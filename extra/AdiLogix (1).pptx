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5" r:id="rId7"/>
    <p:sldId id="264" r:id="rId8"/>
    <p:sldId id="261" r:id="rId9"/>
    <p:sldId id="262" r:id="rId10"/>
    <p:sldId id="26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jesh chodavadiya" initials="bc" lastIdx="2" clrIdx="0">
    <p:extLst>
      <p:ext uri="{19B8F6BF-5375-455C-9EA6-DF929625EA0E}">
        <p15:presenceInfo xmlns:p15="http://schemas.microsoft.com/office/powerpoint/2012/main" userId="7fc4f6888041230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589CB"/>
    <a:srgbClr val="595959"/>
    <a:srgbClr val="CA7C42"/>
    <a:srgbClr val="FFFFFF"/>
    <a:srgbClr val="D0CECE"/>
    <a:srgbClr val="2A3042"/>
    <a:srgbClr val="A5A5A5"/>
    <a:srgbClr val="E6E6E6"/>
    <a:srgbClr val="4472C4"/>
    <a:srgbClr val="6BB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87" autoAdjust="0"/>
  </p:normalViewPr>
  <p:slideViewPr>
    <p:cSldViewPr snapToGrid="0">
      <p:cViewPr varScale="1">
        <p:scale>
          <a:sx n="107" d="100"/>
          <a:sy n="107" d="100"/>
        </p:scale>
        <p:origin x="696" y="114"/>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7D3D13-F31E-4E99-85C3-C72C028B0DAB}" type="datetimeFigureOut">
              <a:rPr lang="en-US" smtClean="0"/>
              <a:t>10/16/2025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41FCE7-9D5B-4AEE-B58B-8EDEA6AF2E3B}" type="slidenum">
              <a:rPr lang="en-US" smtClean="0"/>
              <a:t>‹#›</a:t>
            </a:fld>
            <a:endParaRPr lang="en-US"/>
          </a:p>
        </p:txBody>
      </p:sp>
    </p:spTree>
    <p:extLst>
      <p:ext uri="{BB962C8B-B14F-4D97-AF65-F5344CB8AC3E}">
        <p14:creationId xmlns:p14="http://schemas.microsoft.com/office/powerpoint/2010/main" val="3917726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41FCE7-9D5B-4AEE-B58B-8EDEA6AF2E3B}" type="slidenum">
              <a:rPr lang="en-US" smtClean="0"/>
              <a:t>5</a:t>
            </a:fld>
            <a:endParaRPr lang="en-US"/>
          </a:p>
        </p:txBody>
      </p:sp>
    </p:spTree>
    <p:extLst>
      <p:ext uri="{BB962C8B-B14F-4D97-AF65-F5344CB8AC3E}">
        <p14:creationId xmlns:p14="http://schemas.microsoft.com/office/powerpoint/2010/main" val="1459946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4A24A-C12F-4063-B1F8-06BA5C6867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C32024-F890-8FB5-93EF-6631D427A3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84D02D-6F49-AA96-DB51-19BCA43812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22374F-DCE5-6AC0-F6E9-C10C7A6AAE33}"/>
              </a:ext>
            </a:extLst>
          </p:cNvPr>
          <p:cNvSpPr>
            <a:spLocks noGrp="1"/>
          </p:cNvSpPr>
          <p:nvPr>
            <p:ph type="sldNum" sz="quarter" idx="5"/>
          </p:nvPr>
        </p:nvSpPr>
        <p:spPr/>
        <p:txBody>
          <a:bodyPr/>
          <a:lstStyle/>
          <a:p>
            <a:fld id="{0441FCE7-9D5B-4AEE-B58B-8EDEA6AF2E3B}" type="slidenum">
              <a:rPr lang="en-US" smtClean="0"/>
              <a:t>6</a:t>
            </a:fld>
            <a:endParaRPr lang="en-US"/>
          </a:p>
        </p:txBody>
      </p:sp>
    </p:spTree>
    <p:extLst>
      <p:ext uri="{BB962C8B-B14F-4D97-AF65-F5344CB8AC3E}">
        <p14:creationId xmlns:p14="http://schemas.microsoft.com/office/powerpoint/2010/main" val="2660169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B103A-41E3-57A0-A351-EE6D8F40B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F5AE53-0F89-A4D1-739A-B87FC28EB8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A56C8-F39C-189C-C856-CE8232E1A1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0CCB88-E334-4DA9-9E80-63AC92BA5754}"/>
              </a:ext>
            </a:extLst>
          </p:cNvPr>
          <p:cNvSpPr>
            <a:spLocks noGrp="1"/>
          </p:cNvSpPr>
          <p:nvPr>
            <p:ph type="sldNum" sz="quarter" idx="5"/>
          </p:nvPr>
        </p:nvSpPr>
        <p:spPr/>
        <p:txBody>
          <a:bodyPr/>
          <a:lstStyle/>
          <a:p>
            <a:fld id="{0441FCE7-9D5B-4AEE-B58B-8EDEA6AF2E3B}" type="slidenum">
              <a:rPr lang="en-US" smtClean="0"/>
              <a:t>7</a:t>
            </a:fld>
            <a:endParaRPr lang="en-US"/>
          </a:p>
        </p:txBody>
      </p:sp>
    </p:spTree>
    <p:extLst>
      <p:ext uri="{BB962C8B-B14F-4D97-AF65-F5344CB8AC3E}">
        <p14:creationId xmlns:p14="http://schemas.microsoft.com/office/powerpoint/2010/main" val="3793155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41FCE7-9D5B-4AEE-B58B-8EDEA6AF2E3B}" type="slidenum">
              <a:rPr lang="en-US" smtClean="0"/>
              <a:t>9</a:t>
            </a:fld>
            <a:endParaRPr lang="en-US"/>
          </a:p>
        </p:txBody>
      </p:sp>
    </p:spTree>
    <p:extLst>
      <p:ext uri="{BB962C8B-B14F-4D97-AF65-F5344CB8AC3E}">
        <p14:creationId xmlns:p14="http://schemas.microsoft.com/office/powerpoint/2010/main" val="2770839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7E80-8051-811E-61FB-7FFFBEEAA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66F2B4-929B-A176-149E-372EF30BE7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F3813F6-8AA0-5599-95EE-40F0B3EB3EE5}"/>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5" name="Footer Placeholder 4">
            <a:extLst>
              <a:ext uri="{FF2B5EF4-FFF2-40B4-BE49-F238E27FC236}">
                <a16:creationId xmlns:a16="http://schemas.microsoft.com/office/drawing/2014/main" id="{E4A61991-149E-B15B-2F2B-DC0674642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9EA2A9-531B-9B4A-FB8A-13720A182939}"/>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1111774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51603-50EE-5B9D-9ED8-006F3ADAA8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995442-6A17-4920-C26C-6DEF87B068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6C8CC-0366-5358-7BDA-84707CB355E2}"/>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5" name="Footer Placeholder 4">
            <a:extLst>
              <a:ext uri="{FF2B5EF4-FFF2-40B4-BE49-F238E27FC236}">
                <a16:creationId xmlns:a16="http://schemas.microsoft.com/office/drawing/2014/main" id="{D8E421E2-EE44-A92A-B71A-32D1AAA122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709DE6-07A8-73B9-E7DF-98780EEBB2E0}"/>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3213931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61FFC-EBAE-8822-F53B-2BE73CCC9F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F2E345-2074-8E0B-97EF-2563C5A491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58CCCE-B838-8309-D460-B70D83ABE533}"/>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5" name="Footer Placeholder 4">
            <a:extLst>
              <a:ext uri="{FF2B5EF4-FFF2-40B4-BE49-F238E27FC236}">
                <a16:creationId xmlns:a16="http://schemas.microsoft.com/office/drawing/2014/main" id="{FB8C2831-31CE-0057-7134-FC5091A5D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0F6F1F-40F5-C7C8-17C8-2118D1B2FFDD}"/>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2190542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44FFA-9224-2EE3-0A66-619ED4CCFE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9902E8-27CC-8221-92C3-69AD14B5D3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2C14850-616A-28BF-8F01-134C7A4B73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3652DF-E5CC-4A15-4F7A-81FBE3F22E44}"/>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6" name="Footer Placeholder 5">
            <a:extLst>
              <a:ext uri="{FF2B5EF4-FFF2-40B4-BE49-F238E27FC236}">
                <a16:creationId xmlns:a16="http://schemas.microsoft.com/office/drawing/2014/main" id="{7E6DFDBF-B5D9-C991-8408-BCC9638EE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8266BD-5059-3B23-5F79-5334C6BB867B}"/>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101928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19C6E-C2FC-56EE-FE90-280270A2080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7D92AF-830D-1C92-DF9F-034889CBFC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3B25EF-ACFC-3E6F-3736-9D86E579FB9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A12CAB-E503-A29E-96C0-0B9F141C6A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C04D41-E578-E911-52FB-B801EDDA88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3AA118-26A6-38E0-E1EE-3DEE301B7585}"/>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8" name="Footer Placeholder 7">
            <a:extLst>
              <a:ext uri="{FF2B5EF4-FFF2-40B4-BE49-F238E27FC236}">
                <a16:creationId xmlns:a16="http://schemas.microsoft.com/office/drawing/2014/main" id="{0835852C-81AE-D1D7-7E70-EAF07C62BC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B3A5747-7237-4791-AA3E-5416D039CDE2}"/>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882083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8F38F-E9AA-57C3-12CD-8298ED4979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974DA5-58A1-A968-B955-D21FDB95969B}"/>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4" name="Footer Placeholder 3">
            <a:extLst>
              <a:ext uri="{FF2B5EF4-FFF2-40B4-BE49-F238E27FC236}">
                <a16:creationId xmlns:a16="http://schemas.microsoft.com/office/drawing/2014/main" id="{EA265824-47F6-8291-9DB7-5CE55734B3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4390EE9-A075-B815-752D-D71691071627}"/>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2839792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314AE0-0289-D7E9-9491-E3C503B55096}"/>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3" name="Footer Placeholder 2">
            <a:extLst>
              <a:ext uri="{FF2B5EF4-FFF2-40B4-BE49-F238E27FC236}">
                <a16:creationId xmlns:a16="http://schemas.microsoft.com/office/drawing/2014/main" id="{CA88540B-A995-F86C-7D8D-AF932A5AF38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82F496-83D6-4749-82E7-CEEFAA828F60}"/>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3300620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5189-A5C3-21A5-ADDA-C6F69226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7AF59-602A-EAF2-E0A0-69F575F6CA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0F509B-560B-8A56-115A-5AF503667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353F28-5BB4-858D-A90A-78985F6EC0AA}"/>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6" name="Footer Placeholder 5">
            <a:extLst>
              <a:ext uri="{FF2B5EF4-FFF2-40B4-BE49-F238E27FC236}">
                <a16:creationId xmlns:a16="http://schemas.microsoft.com/office/drawing/2014/main" id="{CFB69E2C-085D-082A-CF69-F31FE598F0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DE09C6-3700-4F15-0213-7FDCBA795FAD}"/>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3800064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EAF4D-042F-3936-8693-322D8AED47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29A3E4-5689-EB07-AA69-2F7F7E7B45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53579E-D650-BBE5-7DD4-F06429064F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C71371-A274-894D-D12E-4D0029867B3A}"/>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6" name="Footer Placeholder 5">
            <a:extLst>
              <a:ext uri="{FF2B5EF4-FFF2-40B4-BE49-F238E27FC236}">
                <a16:creationId xmlns:a16="http://schemas.microsoft.com/office/drawing/2014/main" id="{F89F4DB9-4BB7-00AC-00AD-BE76F9C144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072440-3EAB-25ED-A61B-AD3F02C78D14}"/>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1455515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D43A-E05C-FD59-B85E-BF2170F188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BC340F-ADBC-C021-173F-86B95878B8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290CA-9EBB-F872-722B-3498AC665F6C}"/>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5" name="Footer Placeholder 4">
            <a:extLst>
              <a:ext uri="{FF2B5EF4-FFF2-40B4-BE49-F238E27FC236}">
                <a16:creationId xmlns:a16="http://schemas.microsoft.com/office/drawing/2014/main" id="{6258D202-6CAC-E2B5-38E0-C195066CF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7DADF3-8769-B262-E883-C020E81ACA38}"/>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427268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AAA0B0-47BA-C270-DD92-4A91B23BF6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4179E0-B6C6-8901-70DF-787E9B5D10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9E343C-F965-F859-3302-08EAA837EA4E}"/>
              </a:ext>
            </a:extLst>
          </p:cNvPr>
          <p:cNvSpPr>
            <a:spLocks noGrp="1"/>
          </p:cNvSpPr>
          <p:nvPr>
            <p:ph type="dt" sz="half" idx="10"/>
          </p:nvPr>
        </p:nvSpPr>
        <p:spPr/>
        <p:txBody>
          <a:bodyPr/>
          <a:lstStyle/>
          <a:p>
            <a:fld id="{66E88D58-FE17-4A8E-A92B-881632F9C0A8}" type="datetimeFigureOut">
              <a:rPr lang="en-US" smtClean="0"/>
              <a:t>10/16/2025</a:t>
            </a:fld>
            <a:endParaRPr lang="en-US"/>
          </a:p>
        </p:txBody>
      </p:sp>
      <p:sp>
        <p:nvSpPr>
          <p:cNvPr id="5" name="Footer Placeholder 4">
            <a:extLst>
              <a:ext uri="{FF2B5EF4-FFF2-40B4-BE49-F238E27FC236}">
                <a16:creationId xmlns:a16="http://schemas.microsoft.com/office/drawing/2014/main" id="{D641B752-5A71-1452-8021-5D2E04B1C9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720F06-08E6-F539-7AA7-0DBF27A9B14C}"/>
              </a:ext>
            </a:extLst>
          </p:cNvPr>
          <p:cNvSpPr>
            <a:spLocks noGrp="1"/>
          </p:cNvSpPr>
          <p:nvPr>
            <p:ph type="sldNum" sz="quarter" idx="12"/>
          </p:nvPr>
        </p:nvSpPr>
        <p:spPr/>
        <p:txBody>
          <a:bodyPr/>
          <a:lstStyle/>
          <a:p>
            <a:fld id="{380D0907-DEB4-4406-95E3-1C1A65267BB8}" type="slidenum">
              <a:rPr lang="en-US" smtClean="0"/>
              <a:t>‹#›</a:t>
            </a:fld>
            <a:endParaRPr lang="en-US"/>
          </a:p>
        </p:txBody>
      </p:sp>
    </p:spTree>
    <p:extLst>
      <p:ext uri="{BB962C8B-B14F-4D97-AF65-F5344CB8AC3E}">
        <p14:creationId xmlns:p14="http://schemas.microsoft.com/office/powerpoint/2010/main" val="3617543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EA5916-B639-B270-0E22-5E25B4A7BE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09C5B6-5A01-BD13-A38C-6C86A2FDF2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9FF478-931E-C1D2-7692-2C9ACA31B0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E88D58-FE17-4A8E-A92B-881632F9C0A8}" type="datetimeFigureOut">
              <a:rPr lang="en-US" smtClean="0"/>
              <a:t>10/16/2025</a:t>
            </a:fld>
            <a:endParaRPr lang="en-US"/>
          </a:p>
        </p:txBody>
      </p:sp>
      <p:sp>
        <p:nvSpPr>
          <p:cNvPr id="5" name="Footer Placeholder 4">
            <a:extLst>
              <a:ext uri="{FF2B5EF4-FFF2-40B4-BE49-F238E27FC236}">
                <a16:creationId xmlns:a16="http://schemas.microsoft.com/office/drawing/2014/main" id="{383E91D7-F4E0-CB20-00AE-07B420A414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A3139B-6360-7C17-5EB4-5D30A7DA79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0D0907-DEB4-4406-95E3-1C1A65267BB8}" type="slidenum">
              <a:rPr lang="en-US" smtClean="0"/>
              <a:t>‹#›</a:t>
            </a:fld>
            <a:endParaRPr lang="en-US"/>
          </a:p>
        </p:txBody>
      </p:sp>
    </p:spTree>
    <p:extLst>
      <p:ext uri="{BB962C8B-B14F-4D97-AF65-F5344CB8AC3E}">
        <p14:creationId xmlns:p14="http://schemas.microsoft.com/office/powerpoint/2010/main" val="2659831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webp"/><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7E5F6F8-1D49-7D0C-D3BF-2BCBB5C5EBBC}"/>
              </a:ext>
            </a:extLst>
          </p:cNvPr>
          <p:cNvSpPr txBox="1"/>
          <p:nvPr/>
        </p:nvSpPr>
        <p:spPr>
          <a:xfrm>
            <a:off x="4098831" y="610677"/>
            <a:ext cx="1819836" cy="646331"/>
          </a:xfrm>
          <a:prstGeom prst="rect">
            <a:avLst/>
          </a:prstGeom>
          <a:noFill/>
        </p:spPr>
        <p:txBody>
          <a:bodyPr wrap="square">
            <a:spAutoFit/>
          </a:bodyPr>
          <a:lstStyle/>
          <a:p>
            <a:r>
              <a:rPr lang="en-US" sz="3600" dirty="0" err="1">
                <a:solidFill>
                  <a:srgbClr val="1589CB"/>
                </a:solidFill>
                <a:cs typeface="Times New Roman" panose="02020603050405020304" pitchFamily="18" charset="0"/>
              </a:rPr>
              <a:t>AdiLogi</a:t>
            </a:r>
            <a:endParaRPr lang="en-US" sz="3600" dirty="0">
              <a:solidFill>
                <a:srgbClr val="1589CB"/>
              </a:solidFill>
              <a:cs typeface="Times New Roman" panose="02020603050405020304" pitchFamily="18" charset="0"/>
            </a:endParaRPr>
          </a:p>
        </p:txBody>
      </p:sp>
      <p:sp>
        <p:nvSpPr>
          <p:cNvPr id="8" name="TextBox 7">
            <a:extLst>
              <a:ext uri="{FF2B5EF4-FFF2-40B4-BE49-F238E27FC236}">
                <a16:creationId xmlns:a16="http://schemas.microsoft.com/office/drawing/2014/main" id="{B93314FB-89D9-6C60-9980-07D0E1551F1C}"/>
              </a:ext>
            </a:extLst>
          </p:cNvPr>
          <p:cNvSpPr txBox="1"/>
          <p:nvPr/>
        </p:nvSpPr>
        <p:spPr>
          <a:xfrm>
            <a:off x="5461463" y="375178"/>
            <a:ext cx="634537" cy="923330"/>
          </a:xfrm>
          <a:prstGeom prst="rect">
            <a:avLst/>
          </a:prstGeom>
          <a:noFill/>
        </p:spPr>
        <p:txBody>
          <a:bodyPr wrap="square">
            <a:spAutoFit/>
          </a:bodyPr>
          <a:lstStyle/>
          <a:p>
            <a:r>
              <a:rPr lang="en-US" sz="5400" dirty="0">
                <a:solidFill>
                  <a:srgbClr val="CA7C42"/>
                </a:solidFill>
                <a:latin typeface="Broadway" panose="04040905080B02020502" pitchFamily="82" charset="0"/>
              </a:rPr>
              <a:t>X</a:t>
            </a:r>
            <a:endParaRPr lang="en-US" sz="3600" dirty="0">
              <a:solidFill>
                <a:srgbClr val="CA7C42"/>
              </a:solidFill>
              <a:latin typeface="Broadway" panose="04040905080B02020502" pitchFamily="82" charset="0"/>
            </a:endParaRPr>
          </a:p>
        </p:txBody>
      </p:sp>
      <p:sp>
        <p:nvSpPr>
          <p:cNvPr id="10" name="TextBox 9">
            <a:extLst>
              <a:ext uri="{FF2B5EF4-FFF2-40B4-BE49-F238E27FC236}">
                <a16:creationId xmlns:a16="http://schemas.microsoft.com/office/drawing/2014/main" id="{4B292B15-8A83-4C28-86BA-84020204A1A7}"/>
              </a:ext>
            </a:extLst>
          </p:cNvPr>
          <p:cNvSpPr txBox="1"/>
          <p:nvPr/>
        </p:nvSpPr>
        <p:spPr>
          <a:xfrm>
            <a:off x="494522" y="5559492"/>
            <a:ext cx="6096000" cy="923330"/>
          </a:xfrm>
          <a:prstGeom prst="rect">
            <a:avLst/>
          </a:prstGeom>
          <a:noFill/>
        </p:spPr>
        <p:txBody>
          <a:bodyPr wrap="square">
            <a:spAutoFit/>
          </a:bodyPr>
          <a:lstStyle/>
          <a:p>
            <a:r>
              <a:rPr lang="en-US" dirty="0"/>
              <a:t>X: Font :Broadway 54 size</a:t>
            </a:r>
          </a:p>
          <a:p>
            <a:r>
              <a:rPr lang="en-US" dirty="0" err="1"/>
              <a:t>AdiLogic</a:t>
            </a:r>
            <a:r>
              <a:rPr lang="en-US" dirty="0"/>
              <a:t>: Font: Calibri 36 Size</a:t>
            </a:r>
          </a:p>
          <a:p>
            <a:r>
              <a:rPr lang="en-US" dirty="0"/>
              <a:t>Tag Line: Calibri 18</a:t>
            </a:r>
          </a:p>
        </p:txBody>
      </p:sp>
      <p:sp>
        <p:nvSpPr>
          <p:cNvPr id="16" name="TextBox 15">
            <a:extLst>
              <a:ext uri="{FF2B5EF4-FFF2-40B4-BE49-F238E27FC236}">
                <a16:creationId xmlns:a16="http://schemas.microsoft.com/office/drawing/2014/main" id="{4A4D1C66-FF87-72C8-CEED-8F69D70836AD}"/>
              </a:ext>
            </a:extLst>
          </p:cNvPr>
          <p:cNvSpPr txBox="1"/>
          <p:nvPr/>
        </p:nvSpPr>
        <p:spPr>
          <a:xfrm>
            <a:off x="7359521" y="5836491"/>
            <a:ext cx="6097554" cy="646331"/>
          </a:xfrm>
          <a:prstGeom prst="rect">
            <a:avLst/>
          </a:prstGeom>
          <a:noFill/>
        </p:spPr>
        <p:txBody>
          <a:bodyPr wrap="square">
            <a:spAutoFit/>
          </a:bodyPr>
          <a:lstStyle/>
          <a:p>
            <a:r>
              <a:rPr lang="en-US" dirty="0"/>
              <a:t>AdiInfi Logo Blue Color: #1589CB</a:t>
            </a:r>
          </a:p>
          <a:p>
            <a:r>
              <a:rPr lang="en-US" dirty="0"/>
              <a:t>AdiInfi Logo Orange Color: #CA7C42</a:t>
            </a:r>
          </a:p>
        </p:txBody>
      </p:sp>
      <p:sp>
        <p:nvSpPr>
          <p:cNvPr id="21" name="TextBox 20">
            <a:extLst>
              <a:ext uri="{FF2B5EF4-FFF2-40B4-BE49-F238E27FC236}">
                <a16:creationId xmlns:a16="http://schemas.microsoft.com/office/drawing/2014/main" id="{930AD1D8-C673-4557-43FA-69C6AD997338}"/>
              </a:ext>
            </a:extLst>
          </p:cNvPr>
          <p:cNvSpPr txBox="1"/>
          <p:nvPr/>
        </p:nvSpPr>
        <p:spPr>
          <a:xfrm>
            <a:off x="4098831" y="1168193"/>
            <a:ext cx="6096000" cy="369332"/>
          </a:xfrm>
          <a:prstGeom prst="rect">
            <a:avLst/>
          </a:prstGeom>
          <a:noFill/>
        </p:spPr>
        <p:txBody>
          <a:bodyPr wrap="square">
            <a:spAutoFit/>
          </a:bodyPr>
          <a:lstStyle/>
          <a:p>
            <a:r>
              <a:rPr lang="en-US" dirty="0"/>
              <a:t>Where Industrial Intelligence Meets Interface.</a:t>
            </a:r>
          </a:p>
        </p:txBody>
      </p:sp>
      <p:grpSp>
        <p:nvGrpSpPr>
          <p:cNvPr id="22" name="Group 21">
            <a:extLst>
              <a:ext uri="{FF2B5EF4-FFF2-40B4-BE49-F238E27FC236}">
                <a16:creationId xmlns:a16="http://schemas.microsoft.com/office/drawing/2014/main" id="{7042B4A1-7D6E-662C-27A1-032CD7400A8C}"/>
              </a:ext>
            </a:extLst>
          </p:cNvPr>
          <p:cNvGrpSpPr/>
          <p:nvPr/>
        </p:nvGrpSpPr>
        <p:grpSpPr>
          <a:xfrm>
            <a:off x="4098831" y="1814524"/>
            <a:ext cx="1997169" cy="923330"/>
            <a:chOff x="2770094" y="1440898"/>
            <a:chExt cx="1997169" cy="923330"/>
          </a:xfrm>
        </p:grpSpPr>
        <p:sp>
          <p:nvSpPr>
            <p:cNvPr id="23" name="TextBox 22">
              <a:extLst>
                <a:ext uri="{FF2B5EF4-FFF2-40B4-BE49-F238E27FC236}">
                  <a16:creationId xmlns:a16="http://schemas.microsoft.com/office/drawing/2014/main" id="{B2A525D1-E088-01C9-2308-E3402AD3BBFF}"/>
                </a:ext>
              </a:extLst>
            </p:cNvPr>
            <p:cNvSpPr txBox="1"/>
            <p:nvPr/>
          </p:nvSpPr>
          <p:spPr>
            <a:xfrm>
              <a:off x="2770094" y="1676397"/>
              <a:ext cx="1819836" cy="646331"/>
            </a:xfrm>
            <a:prstGeom prst="rect">
              <a:avLst/>
            </a:prstGeom>
            <a:noFill/>
          </p:spPr>
          <p:txBody>
            <a:bodyPr wrap="square">
              <a:spAutoFit/>
            </a:bodyPr>
            <a:lstStyle/>
            <a:p>
              <a:r>
                <a:rPr lang="en-US" sz="3600" dirty="0">
                  <a:solidFill>
                    <a:srgbClr val="CA7C42"/>
                  </a:solidFill>
                  <a:cs typeface="Times New Roman" panose="02020603050405020304" pitchFamily="18" charset="0"/>
                </a:rPr>
                <a:t>AdiLogi</a:t>
              </a:r>
            </a:p>
          </p:txBody>
        </p:sp>
        <p:sp>
          <p:nvSpPr>
            <p:cNvPr id="24" name="TextBox 23">
              <a:extLst>
                <a:ext uri="{FF2B5EF4-FFF2-40B4-BE49-F238E27FC236}">
                  <a16:creationId xmlns:a16="http://schemas.microsoft.com/office/drawing/2014/main" id="{75084893-C57B-1360-6ACC-C53E6D048930}"/>
                </a:ext>
              </a:extLst>
            </p:cNvPr>
            <p:cNvSpPr txBox="1"/>
            <p:nvPr/>
          </p:nvSpPr>
          <p:spPr>
            <a:xfrm>
              <a:off x="4132726" y="1440898"/>
              <a:ext cx="634537" cy="923330"/>
            </a:xfrm>
            <a:prstGeom prst="rect">
              <a:avLst/>
            </a:prstGeom>
            <a:noFill/>
          </p:spPr>
          <p:txBody>
            <a:bodyPr wrap="square">
              <a:spAutoFit/>
            </a:bodyPr>
            <a:lstStyle/>
            <a:p>
              <a:r>
                <a:rPr lang="en-US" sz="5400" dirty="0">
                  <a:solidFill>
                    <a:srgbClr val="1589CB"/>
                  </a:solidFill>
                  <a:latin typeface="Broadway" panose="04040905080B02020502" pitchFamily="82" charset="0"/>
                </a:rPr>
                <a:t>X</a:t>
              </a:r>
              <a:endParaRPr lang="en-US" sz="3600" dirty="0">
                <a:solidFill>
                  <a:srgbClr val="1589CB"/>
                </a:solidFill>
                <a:latin typeface="Broadway" panose="04040905080B02020502" pitchFamily="82" charset="0"/>
              </a:endParaRPr>
            </a:p>
          </p:txBody>
        </p:sp>
      </p:grpSp>
      <p:sp>
        <p:nvSpPr>
          <p:cNvPr id="25" name="TextBox 24">
            <a:extLst>
              <a:ext uri="{FF2B5EF4-FFF2-40B4-BE49-F238E27FC236}">
                <a16:creationId xmlns:a16="http://schemas.microsoft.com/office/drawing/2014/main" id="{758B91F1-9ABA-FC7C-65CA-4CDD9F83AA3B}"/>
              </a:ext>
            </a:extLst>
          </p:cNvPr>
          <p:cNvSpPr txBox="1"/>
          <p:nvPr/>
        </p:nvSpPr>
        <p:spPr>
          <a:xfrm>
            <a:off x="4098831" y="2607539"/>
            <a:ext cx="6096000" cy="369332"/>
          </a:xfrm>
          <a:prstGeom prst="rect">
            <a:avLst/>
          </a:prstGeom>
          <a:noFill/>
        </p:spPr>
        <p:txBody>
          <a:bodyPr wrap="square">
            <a:spAutoFit/>
          </a:bodyPr>
          <a:lstStyle/>
          <a:p>
            <a:r>
              <a:rPr lang="en-US" dirty="0"/>
              <a:t>Where Industrial Intelligence Meets Interface.</a:t>
            </a:r>
          </a:p>
        </p:txBody>
      </p:sp>
      <p:grpSp>
        <p:nvGrpSpPr>
          <p:cNvPr id="26" name="Group 25">
            <a:extLst>
              <a:ext uri="{FF2B5EF4-FFF2-40B4-BE49-F238E27FC236}">
                <a16:creationId xmlns:a16="http://schemas.microsoft.com/office/drawing/2014/main" id="{921F9D89-6EE1-8614-484B-893B78B75D28}"/>
              </a:ext>
            </a:extLst>
          </p:cNvPr>
          <p:cNvGrpSpPr/>
          <p:nvPr/>
        </p:nvGrpSpPr>
        <p:grpSpPr>
          <a:xfrm>
            <a:off x="4098831" y="3484702"/>
            <a:ext cx="1997169" cy="923330"/>
            <a:chOff x="2770094" y="1440898"/>
            <a:chExt cx="1997169" cy="923330"/>
          </a:xfrm>
        </p:grpSpPr>
        <p:sp>
          <p:nvSpPr>
            <p:cNvPr id="27" name="TextBox 26">
              <a:extLst>
                <a:ext uri="{FF2B5EF4-FFF2-40B4-BE49-F238E27FC236}">
                  <a16:creationId xmlns:a16="http://schemas.microsoft.com/office/drawing/2014/main" id="{764CAF9F-08E1-4E1B-727F-7A282B241ABC}"/>
                </a:ext>
              </a:extLst>
            </p:cNvPr>
            <p:cNvSpPr txBox="1"/>
            <p:nvPr/>
          </p:nvSpPr>
          <p:spPr>
            <a:xfrm>
              <a:off x="2770094" y="1676397"/>
              <a:ext cx="1819836" cy="646331"/>
            </a:xfrm>
            <a:prstGeom prst="rect">
              <a:avLst/>
            </a:prstGeom>
            <a:noFill/>
          </p:spPr>
          <p:txBody>
            <a:bodyPr wrap="square">
              <a:spAutoFit/>
            </a:bodyPr>
            <a:lstStyle/>
            <a:p>
              <a:r>
                <a:rPr lang="en-US" sz="3600" dirty="0">
                  <a:cs typeface="Times New Roman" panose="02020603050405020304" pitchFamily="18" charset="0"/>
                </a:rPr>
                <a:t>AdiLogi</a:t>
              </a:r>
            </a:p>
          </p:txBody>
        </p:sp>
        <p:sp>
          <p:nvSpPr>
            <p:cNvPr id="28" name="TextBox 27">
              <a:extLst>
                <a:ext uri="{FF2B5EF4-FFF2-40B4-BE49-F238E27FC236}">
                  <a16:creationId xmlns:a16="http://schemas.microsoft.com/office/drawing/2014/main" id="{68A6A02A-C40B-455E-DB38-72C6A6A78C89}"/>
                </a:ext>
              </a:extLst>
            </p:cNvPr>
            <p:cNvSpPr txBox="1"/>
            <p:nvPr/>
          </p:nvSpPr>
          <p:spPr>
            <a:xfrm>
              <a:off x="4132726" y="1440898"/>
              <a:ext cx="634537" cy="923330"/>
            </a:xfrm>
            <a:prstGeom prst="rect">
              <a:avLst/>
            </a:prstGeom>
            <a:noFill/>
          </p:spPr>
          <p:txBody>
            <a:bodyPr wrap="square">
              <a:spAutoFit/>
            </a:bodyPr>
            <a:lstStyle/>
            <a:p>
              <a:r>
                <a:rPr lang="en-US" sz="5400" dirty="0">
                  <a:latin typeface="Broadway" panose="04040905080B02020502" pitchFamily="82" charset="0"/>
                </a:rPr>
                <a:t>X</a:t>
              </a:r>
              <a:endParaRPr lang="en-US" sz="3600" dirty="0">
                <a:latin typeface="Broadway" panose="04040905080B02020502" pitchFamily="82" charset="0"/>
              </a:endParaRPr>
            </a:p>
          </p:txBody>
        </p:sp>
      </p:grpSp>
      <p:sp>
        <p:nvSpPr>
          <p:cNvPr id="29" name="TextBox 28">
            <a:extLst>
              <a:ext uri="{FF2B5EF4-FFF2-40B4-BE49-F238E27FC236}">
                <a16:creationId xmlns:a16="http://schemas.microsoft.com/office/drawing/2014/main" id="{2A06A7A6-FF2B-C60E-2E90-3D2B7EF1E970}"/>
              </a:ext>
            </a:extLst>
          </p:cNvPr>
          <p:cNvSpPr txBox="1"/>
          <p:nvPr/>
        </p:nvSpPr>
        <p:spPr>
          <a:xfrm>
            <a:off x="4098831" y="4277717"/>
            <a:ext cx="6096000" cy="369332"/>
          </a:xfrm>
          <a:prstGeom prst="rect">
            <a:avLst/>
          </a:prstGeom>
          <a:noFill/>
        </p:spPr>
        <p:txBody>
          <a:bodyPr wrap="square">
            <a:spAutoFit/>
          </a:bodyPr>
          <a:lstStyle/>
          <a:p>
            <a:r>
              <a:rPr lang="en-US" dirty="0"/>
              <a:t>Where Industrial Intelligence Meets Interface.</a:t>
            </a:r>
          </a:p>
        </p:txBody>
      </p:sp>
    </p:spTree>
    <p:extLst>
      <p:ext uri="{BB962C8B-B14F-4D97-AF65-F5344CB8AC3E}">
        <p14:creationId xmlns:p14="http://schemas.microsoft.com/office/powerpoint/2010/main" val="367707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66924477-BAF5-DA66-199D-072B5571A2E6}"/>
              </a:ext>
            </a:extLst>
          </p:cNvPr>
          <p:cNvGrpSpPr/>
          <p:nvPr/>
        </p:nvGrpSpPr>
        <p:grpSpPr>
          <a:xfrm>
            <a:off x="4680501" y="2049416"/>
            <a:ext cx="2126217" cy="923330"/>
            <a:chOff x="7221460" y="2865953"/>
            <a:chExt cx="2126217" cy="923330"/>
          </a:xfrm>
        </p:grpSpPr>
        <p:sp>
          <p:nvSpPr>
            <p:cNvPr id="24" name="TextBox 23">
              <a:extLst>
                <a:ext uri="{FF2B5EF4-FFF2-40B4-BE49-F238E27FC236}">
                  <a16:creationId xmlns:a16="http://schemas.microsoft.com/office/drawing/2014/main" id="{6ACDEB39-6D2B-BC03-C685-BF0A58C393EF}"/>
                </a:ext>
              </a:extLst>
            </p:cNvPr>
            <p:cNvSpPr txBox="1"/>
            <p:nvPr/>
          </p:nvSpPr>
          <p:spPr>
            <a:xfrm>
              <a:off x="7221460" y="3139548"/>
              <a:ext cx="1362632" cy="646331"/>
            </a:xfrm>
            <a:prstGeom prst="rect">
              <a:avLst/>
            </a:prstGeom>
            <a:noFill/>
          </p:spPr>
          <p:txBody>
            <a:bodyPr wrap="square">
              <a:spAutoFit/>
            </a:bodyPr>
            <a:lstStyle/>
            <a:p>
              <a:r>
                <a:rPr lang="en-US" sz="3600" dirty="0">
                  <a:solidFill>
                    <a:srgbClr val="CA7C42"/>
                  </a:solidFill>
                  <a:cs typeface="Times New Roman" panose="02020603050405020304" pitchFamily="18" charset="0"/>
                </a:rPr>
                <a:t>AdiNe</a:t>
              </a:r>
            </a:p>
          </p:txBody>
        </p:sp>
        <p:sp>
          <p:nvSpPr>
            <p:cNvPr id="25" name="TextBox 24">
              <a:extLst>
                <a:ext uri="{FF2B5EF4-FFF2-40B4-BE49-F238E27FC236}">
                  <a16:creationId xmlns:a16="http://schemas.microsoft.com/office/drawing/2014/main" id="{C26D0744-D5A4-B5AA-5000-C2DBE40AB961}"/>
                </a:ext>
              </a:extLst>
            </p:cNvPr>
            <p:cNvSpPr txBox="1"/>
            <p:nvPr/>
          </p:nvSpPr>
          <p:spPr>
            <a:xfrm>
              <a:off x="8287835" y="2865953"/>
              <a:ext cx="664288" cy="923330"/>
            </a:xfrm>
            <a:prstGeom prst="rect">
              <a:avLst/>
            </a:prstGeom>
            <a:noFill/>
          </p:spPr>
          <p:txBody>
            <a:bodyPr wrap="square">
              <a:spAutoFit/>
            </a:bodyPr>
            <a:lstStyle/>
            <a:p>
              <a:r>
                <a:rPr lang="en-US" sz="5400" dirty="0">
                  <a:solidFill>
                    <a:srgbClr val="1589CB"/>
                  </a:solidFill>
                  <a:latin typeface="Blanka" pitchFamily="50" charset="0"/>
                </a:rPr>
                <a:t>X</a:t>
              </a:r>
              <a:endParaRPr lang="en-US" sz="3600" dirty="0">
                <a:solidFill>
                  <a:srgbClr val="1589CB"/>
                </a:solidFill>
                <a:latin typeface="Blanka" pitchFamily="50" charset="0"/>
              </a:endParaRPr>
            </a:p>
          </p:txBody>
        </p:sp>
        <p:sp>
          <p:nvSpPr>
            <p:cNvPr id="26" name="TextBox 25">
              <a:extLst>
                <a:ext uri="{FF2B5EF4-FFF2-40B4-BE49-F238E27FC236}">
                  <a16:creationId xmlns:a16="http://schemas.microsoft.com/office/drawing/2014/main" id="{222BECB5-E81C-9674-A7DA-98CC0191427E}"/>
                </a:ext>
              </a:extLst>
            </p:cNvPr>
            <p:cNvSpPr txBox="1"/>
            <p:nvPr/>
          </p:nvSpPr>
          <p:spPr>
            <a:xfrm>
              <a:off x="8725800" y="3141133"/>
              <a:ext cx="621877" cy="646331"/>
            </a:xfrm>
            <a:prstGeom prst="rect">
              <a:avLst/>
            </a:prstGeom>
            <a:noFill/>
          </p:spPr>
          <p:txBody>
            <a:bodyPr wrap="square">
              <a:spAutoFit/>
            </a:bodyPr>
            <a:lstStyle/>
            <a:p>
              <a:r>
                <a:rPr lang="en-US" sz="3600" dirty="0">
                  <a:solidFill>
                    <a:srgbClr val="CA7C42"/>
                  </a:solidFill>
                  <a:cs typeface="Times New Roman" panose="02020603050405020304" pitchFamily="18" charset="0"/>
                </a:rPr>
                <a:t>us</a:t>
              </a:r>
            </a:p>
          </p:txBody>
        </p:sp>
      </p:grpSp>
      <p:sp>
        <p:nvSpPr>
          <p:cNvPr id="57" name="TextBox 56">
            <a:extLst>
              <a:ext uri="{FF2B5EF4-FFF2-40B4-BE49-F238E27FC236}">
                <a16:creationId xmlns:a16="http://schemas.microsoft.com/office/drawing/2014/main" id="{C1A6825B-0DDC-E998-BFE9-37691F3CFE77}"/>
              </a:ext>
            </a:extLst>
          </p:cNvPr>
          <p:cNvSpPr txBox="1"/>
          <p:nvPr/>
        </p:nvSpPr>
        <p:spPr>
          <a:xfrm>
            <a:off x="421122" y="5512840"/>
            <a:ext cx="6096000" cy="923330"/>
          </a:xfrm>
          <a:prstGeom prst="rect">
            <a:avLst/>
          </a:prstGeom>
          <a:noFill/>
        </p:spPr>
        <p:txBody>
          <a:bodyPr wrap="square">
            <a:spAutoFit/>
          </a:bodyPr>
          <a:lstStyle/>
          <a:p>
            <a:r>
              <a:rPr lang="en-US" dirty="0"/>
              <a:t>X: Font :Blanka-Regular 54 size</a:t>
            </a:r>
          </a:p>
          <a:p>
            <a:r>
              <a:rPr lang="en-US" dirty="0" err="1"/>
              <a:t>AdiLogic</a:t>
            </a:r>
            <a:r>
              <a:rPr lang="en-US" dirty="0"/>
              <a:t>: Font: Calibri 36 Size</a:t>
            </a:r>
          </a:p>
          <a:p>
            <a:r>
              <a:rPr lang="en-US" dirty="0"/>
              <a:t>Tag Line: Calibri 18</a:t>
            </a:r>
          </a:p>
        </p:txBody>
      </p:sp>
      <p:sp>
        <p:nvSpPr>
          <p:cNvPr id="62" name="TextBox 61">
            <a:extLst>
              <a:ext uri="{FF2B5EF4-FFF2-40B4-BE49-F238E27FC236}">
                <a16:creationId xmlns:a16="http://schemas.microsoft.com/office/drawing/2014/main" id="{FBDB6711-3D6C-E60B-C664-D747F36471A0}"/>
              </a:ext>
            </a:extLst>
          </p:cNvPr>
          <p:cNvSpPr txBox="1"/>
          <p:nvPr/>
        </p:nvSpPr>
        <p:spPr>
          <a:xfrm>
            <a:off x="4676422" y="2794152"/>
            <a:ext cx="6096000" cy="369332"/>
          </a:xfrm>
          <a:prstGeom prst="rect">
            <a:avLst/>
          </a:prstGeom>
          <a:noFill/>
        </p:spPr>
        <p:txBody>
          <a:bodyPr wrap="square">
            <a:spAutoFit/>
          </a:bodyPr>
          <a:lstStyle/>
          <a:p>
            <a:r>
              <a:rPr lang="en-US" dirty="0"/>
              <a:t>The Pulse Between Edge and Cloud.</a:t>
            </a:r>
          </a:p>
        </p:txBody>
      </p:sp>
      <p:grpSp>
        <p:nvGrpSpPr>
          <p:cNvPr id="71" name="Group 70">
            <a:extLst>
              <a:ext uri="{FF2B5EF4-FFF2-40B4-BE49-F238E27FC236}">
                <a16:creationId xmlns:a16="http://schemas.microsoft.com/office/drawing/2014/main" id="{A68E47DD-B178-2684-40D5-649E2A979713}"/>
              </a:ext>
            </a:extLst>
          </p:cNvPr>
          <p:cNvGrpSpPr/>
          <p:nvPr/>
        </p:nvGrpSpPr>
        <p:grpSpPr>
          <a:xfrm>
            <a:off x="4676422" y="3613005"/>
            <a:ext cx="2126217" cy="923330"/>
            <a:chOff x="7221460" y="2865953"/>
            <a:chExt cx="2126217" cy="923330"/>
          </a:xfrm>
        </p:grpSpPr>
        <p:sp>
          <p:nvSpPr>
            <p:cNvPr id="72" name="TextBox 71">
              <a:extLst>
                <a:ext uri="{FF2B5EF4-FFF2-40B4-BE49-F238E27FC236}">
                  <a16:creationId xmlns:a16="http://schemas.microsoft.com/office/drawing/2014/main" id="{1DD05E63-7812-F145-A6B0-47C9CAE37C4F}"/>
                </a:ext>
              </a:extLst>
            </p:cNvPr>
            <p:cNvSpPr txBox="1"/>
            <p:nvPr/>
          </p:nvSpPr>
          <p:spPr>
            <a:xfrm>
              <a:off x="7221460" y="3139548"/>
              <a:ext cx="1362632" cy="646331"/>
            </a:xfrm>
            <a:prstGeom prst="rect">
              <a:avLst/>
            </a:prstGeom>
            <a:noFill/>
          </p:spPr>
          <p:txBody>
            <a:bodyPr wrap="square">
              <a:spAutoFit/>
            </a:bodyPr>
            <a:lstStyle/>
            <a:p>
              <a:r>
                <a:rPr lang="en-US" sz="3600" dirty="0">
                  <a:cs typeface="Times New Roman" panose="02020603050405020304" pitchFamily="18" charset="0"/>
                </a:rPr>
                <a:t>AdiNe</a:t>
              </a:r>
            </a:p>
          </p:txBody>
        </p:sp>
        <p:sp>
          <p:nvSpPr>
            <p:cNvPr id="73" name="TextBox 72">
              <a:extLst>
                <a:ext uri="{FF2B5EF4-FFF2-40B4-BE49-F238E27FC236}">
                  <a16:creationId xmlns:a16="http://schemas.microsoft.com/office/drawing/2014/main" id="{D546FFA0-6FDB-FD2B-2051-A6D4FC9A4899}"/>
                </a:ext>
              </a:extLst>
            </p:cNvPr>
            <p:cNvSpPr txBox="1"/>
            <p:nvPr/>
          </p:nvSpPr>
          <p:spPr>
            <a:xfrm>
              <a:off x="8287835" y="2865953"/>
              <a:ext cx="664288" cy="923330"/>
            </a:xfrm>
            <a:prstGeom prst="rect">
              <a:avLst/>
            </a:prstGeom>
            <a:noFill/>
          </p:spPr>
          <p:txBody>
            <a:bodyPr wrap="square">
              <a:spAutoFit/>
            </a:bodyPr>
            <a:lstStyle/>
            <a:p>
              <a:r>
                <a:rPr lang="en-US" sz="5400" dirty="0">
                  <a:latin typeface="Blanka" pitchFamily="50" charset="0"/>
                </a:rPr>
                <a:t>X</a:t>
              </a:r>
              <a:endParaRPr lang="en-US" sz="3600" dirty="0">
                <a:latin typeface="Blanka" pitchFamily="50" charset="0"/>
              </a:endParaRPr>
            </a:p>
          </p:txBody>
        </p:sp>
        <p:sp>
          <p:nvSpPr>
            <p:cNvPr id="74" name="TextBox 73">
              <a:extLst>
                <a:ext uri="{FF2B5EF4-FFF2-40B4-BE49-F238E27FC236}">
                  <a16:creationId xmlns:a16="http://schemas.microsoft.com/office/drawing/2014/main" id="{4CD4940F-3A56-69A5-463A-CC280DBA78B3}"/>
                </a:ext>
              </a:extLst>
            </p:cNvPr>
            <p:cNvSpPr txBox="1"/>
            <p:nvPr/>
          </p:nvSpPr>
          <p:spPr>
            <a:xfrm>
              <a:off x="8725800" y="3141133"/>
              <a:ext cx="621877" cy="646331"/>
            </a:xfrm>
            <a:prstGeom prst="rect">
              <a:avLst/>
            </a:prstGeom>
            <a:noFill/>
          </p:spPr>
          <p:txBody>
            <a:bodyPr wrap="square">
              <a:spAutoFit/>
            </a:bodyPr>
            <a:lstStyle/>
            <a:p>
              <a:r>
                <a:rPr lang="en-US" sz="3600" dirty="0">
                  <a:cs typeface="Times New Roman" panose="02020603050405020304" pitchFamily="18" charset="0"/>
                </a:rPr>
                <a:t>us</a:t>
              </a:r>
            </a:p>
          </p:txBody>
        </p:sp>
      </p:grpSp>
      <p:sp>
        <p:nvSpPr>
          <p:cNvPr id="75" name="TextBox 74">
            <a:extLst>
              <a:ext uri="{FF2B5EF4-FFF2-40B4-BE49-F238E27FC236}">
                <a16:creationId xmlns:a16="http://schemas.microsoft.com/office/drawing/2014/main" id="{165C35F1-2B9F-ACB5-9821-201113DDE30D}"/>
              </a:ext>
            </a:extLst>
          </p:cNvPr>
          <p:cNvSpPr txBox="1"/>
          <p:nvPr/>
        </p:nvSpPr>
        <p:spPr>
          <a:xfrm>
            <a:off x="4676422" y="4444002"/>
            <a:ext cx="6096000" cy="369332"/>
          </a:xfrm>
          <a:prstGeom prst="rect">
            <a:avLst/>
          </a:prstGeom>
          <a:noFill/>
        </p:spPr>
        <p:txBody>
          <a:bodyPr wrap="square">
            <a:spAutoFit/>
          </a:bodyPr>
          <a:lstStyle/>
          <a:p>
            <a:r>
              <a:rPr lang="en-US" dirty="0"/>
              <a:t>The Pulse Between Edge and Cloud.</a:t>
            </a:r>
          </a:p>
        </p:txBody>
      </p:sp>
      <p:grpSp>
        <p:nvGrpSpPr>
          <p:cNvPr id="76" name="Group 75">
            <a:extLst>
              <a:ext uri="{FF2B5EF4-FFF2-40B4-BE49-F238E27FC236}">
                <a16:creationId xmlns:a16="http://schemas.microsoft.com/office/drawing/2014/main" id="{F85AD230-21AC-EFD6-A6EC-CA0A1F6BE6AB}"/>
              </a:ext>
            </a:extLst>
          </p:cNvPr>
          <p:cNvGrpSpPr/>
          <p:nvPr/>
        </p:nvGrpSpPr>
        <p:grpSpPr>
          <a:xfrm>
            <a:off x="4679688" y="485827"/>
            <a:ext cx="2126217" cy="923330"/>
            <a:chOff x="7221460" y="2865953"/>
            <a:chExt cx="2126217" cy="923330"/>
          </a:xfrm>
        </p:grpSpPr>
        <p:sp>
          <p:nvSpPr>
            <p:cNvPr id="77" name="TextBox 76">
              <a:extLst>
                <a:ext uri="{FF2B5EF4-FFF2-40B4-BE49-F238E27FC236}">
                  <a16:creationId xmlns:a16="http://schemas.microsoft.com/office/drawing/2014/main" id="{EEA63466-F3CE-D357-B60E-F60C24B5C4E5}"/>
                </a:ext>
              </a:extLst>
            </p:cNvPr>
            <p:cNvSpPr txBox="1"/>
            <p:nvPr/>
          </p:nvSpPr>
          <p:spPr>
            <a:xfrm>
              <a:off x="7221460" y="3139548"/>
              <a:ext cx="1362632" cy="646331"/>
            </a:xfrm>
            <a:prstGeom prst="rect">
              <a:avLst/>
            </a:prstGeom>
            <a:noFill/>
          </p:spPr>
          <p:txBody>
            <a:bodyPr wrap="square">
              <a:spAutoFit/>
            </a:bodyPr>
            <a:lstStyle/>
            <a:p>
              <a:r>
                <a:rPr lang="en-US" sz="3600" dirty="0">
                  <a:solidFill>
                    <a:srgbClr val="1589CB"/>
                  </a:solidFill>
                  <a:cs typeface="Times New Roman" panose="02020603050405020304" pitchFamily="18" charset="0"/>
                </a:rPr>
                <a:t>AdiNe</a:t>
              </a:r>
            </a:p>
          </p:txBody>
        </p:sp>
        <p:sp>
          <p:nvSpPr>
            <p:cNvPr id="78" name="TextBox 77">
              <a:extLst>
                <a:ext uri="{FF2B5EF4-FFF2-40B4-BE49-F238E27FC236}">
                  <a16:creationId xmlns:a16="http://schemas.microsoft.com/office/drawing/2014/main" id="{2B30C48A-A106-5535-10FC-3287AFDA33D5}"/>
                </a:ext>
              </a:extLst>
            </p:cNvPr>
            <p:cNvSpPr txBox="1"/>
            <p:nvPr/>
          </p:nvSpPr>
          <p:spPr>
            <a:xfrm>
              <a:off x="8287835" y="2865953"/>
              <a:ext cx="664288" cy="923330"/>
            </a:xfrm>
            <a:prstGeom prst="rect">
              <a:avLst/>
            </a:prstGeom>
            <a:noFill/>
          </p:spPr>
          <p:txBody>
            <a:bodyPr wrap="square">
              <a:spAutoFit/>
            </a:bodyPr>
            <a:lstStyle/>
            <a:p>
              <a:r>
                <a:rPr lang="en-US" sz="5400" dirty="0">
                  <a:solidFill>
                    <a:srgbClr val="CA7C42"/>
                  </a:solidFill>
                  <a:latin typeface="Blanka" pitchFamily="50" charset="0"/>
                </a:rPr>
                <a:t>X</a:t>
              </a:r>
              <a:endParaRPr lang="en-US" sz="3600" dirty="0">
                <a:solidFill>
                  <a:srgbClr val="CA7C42"/>
                </a:solidFill>
                <a:latin typeface="Blanka" pitchFamily="50" charset="0"/>
              </a:endParaRPr>
            </a:p>
          </p:txBody>
        </p:sp>
        <p:sp>
          <p:nvSpPr>
            <p:cNvPr id="79" name="TextBox 78">
              <a:extLst>
                <a:ext uri="{FF2B5EF4-FFF2-40B4-BE49-F238E27FC236}">
                  <a16:creationId xmlns:a16="http://schemas.microsoft.com/office/drawing/2014/main" id="{6128980C-7E6D-F0EB-3FBE-52F5F99C1BF6}"/>
                </a:ext>
              </a:extLst>
            </p:cNvPr>
            <p:cNvSpPr txBox="1"/>
            <p:nvPr/>
          </p:nvSpPr>
          <p:spPr>
            <a:xfrm>
              <a:off x="8725800" y="3141133"/>
              <a:ext cx="621877" cy="646331"/>
            </a:xfrm>
            <a:prstGeom prst="rect">
              <a:avLst/>
            </a:prstGeom>
            <a:noFill/>
          </p:spPr>
          <p:txBody>
            <a:bodyPr wrap="square">
              <a:spAutoFit/>
            </a:bodyPr>
            <a:lstStyle/>
            <a:p>
              <a:r>
                <a:rPr lang="en-US" sz="3600" dirty="0">
                  <a:solidFill>
                    <a:srgbClr val="1589CB"/>
                  </a:solidFill>
                  <a:cs typeface="Times New Roman" panose="02020603050405020304" pitchFamily="18" charset="0"/>
                </a:rPr>
                <a:t>us</a:t>
              </a:r>
            </a:p>
          </p:txBody>
        </p:sp>
      </p:grpSp>
      <p:sp>
        <p:nvSpPr>
          <p:cNvPr id="80" name="TextBox 79">
            <a:extLst>
              <a:ext uri="{FF2B5EF4-FFF2-40B4-BE49-F238E27FC236}">
                <a16:creationId xmlns:a16="http://schemas.microsoft.com/office/drawing/2014/main" id="{28F2D187-ACD5-EB03-8C39-16394661BCCC}"/>
              </a:ext>
            </a:extLst>
          </p:cNvPr>
          <p:cNvSpPr txBox="1"/>
          <p:nvPr/>
        </p:nvSpPr>
        <p:spPr>
          <a:xfrm>
            <a:off x="4679688" y="1316824"/>
            <a:ext cx="6096000" cy="369332"/>
          </a:xfrm>
          <a:prstGeom prst="rect">
            <a:avLst/>
          </a:prstGeom>
          <a:noFill/>
        </p:spPr>
        <p:txBody>
          <a:bodyPr wrap="square">
            <a:spAutoFit/>
          </a:bodyPr>
          <a:lstStyle/>
          <a:p>
            <a:r>
              <a:rPr lang="en-US" b="1" dirty="0"/>
              <a:t>The Pulse Between Edge and Cloud.</a:t>
            </a:r>
          </a:p>
        </p:txBody>
      </p:sp>
      <p:sp>
        <p:nvSpPr>
          <p:cNvPr id="81" name="TextBox 80">
            <a:extLst>
              <a:ext uri="{FF2B5EF4-FFF2-40B4-BE49-F238E27FC236}">
                <a16:creationId xmlns:a16="http://schemas.microsoft.com/office/drawing/2014/main" id="{62DB5E7F-A61A-B403-E5B6-E21BA003D549}"/>
              </a:ext>
            </a:extLst>
          </p:cNvPr>
          <p:cNvSpPr txBox="1"/>
          <p:nvPr/>
        </p:nvSpPr>
        <p:spPr>
          <a:xfrm>
            <a:off x="6805905" y="5725842"/>
            <a:ext cx="6097554" cy="646331"/>
          </a:xfrm>
          <a:prstGeom prst="rect">
            <a:avLst/>
          </a:prstGeom>
          <a:noFill/>
        </p:spPr>
        <p:txBody>
          <a:bodyPr wrap="square">
            <a:spAutoFit/>
          </a:bodyPr>
          <a:lstStyle/>
          <a:p>
            <a:r>
              <a:rPr lang="en-US" dirty="0"/>
              <a:t>AdiInfi Logo Blue Color: #1589CB</a:t>
            </a:r>
          </a:p>
          <a:p>
            <a:r>
              <a:rPr lang="en-US" dirty="0"/>
              <a:t>AdiInfi Logo Orange Color: #CA7C42</a:t>
            </a:r>
          </a:p>
        </p:txBody>
      </p:sp>
    </p:spTree>
    <p:extLst>
      <p:ext uri="{BB962C8B-B14F-4D97-AF65-F5344CB8AC3E}">
        <p14:creationId xmlns:p14="http://schemas.microsoft.com/office/powerpoint/2010/main" val="2899007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324B7-7480-6C6B-E864-25D7BE743641}"/>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BD566E86-BD67-5517-F328-5EAED2E2072C}"/>
              </a:ext>
            </a:extLst>
          </p:cNvPr>
          <p:cNvGrpSpPr/>
          <p:nvPr/>
        </p:nvGrpSpPr>
        <p:grpSpPr>
          <a:xfrm>
            <a:off x="3890839" y="1808862"/>
            <a:ext cx="2354553" cy="923330"/>
            <a:chOff x="3890839" y="1132158"/>
            <a:chExt cx="2354553" cy="923330"/>
          </a:xfrm>
        </p:grpSpPr>
        <p:sp>
          <p:nvSpPr>
            <p:cNvPr id="13" name="TextBox 12">
              <a:extLst>
                <a:ext uri="{FF2B5EF4-FFF2-40B4-BE49-F238E27FC236}">
                  <a16:creationId xmlns:a16="http://schemas.microsoft.com/office/drawing/2014/main" id="{119C4270-D58B-C567-E60C-9DABADC3AFBB}"/>
                </a:ext>
              </a:extLst>
            </p:cNvPr>
            <p:cNvSpPr txBox="1"/>
            <p:nvPr/>
          </p:nvSpPr>
          <p:spPr>
            <a:xfrm>
              <a:off x="3890839" y="1370038"/>
              <a:ext cx="1873622" cy="646331"/>
            </a:xfrm>
            <a:prstGeom prst="rect">
              <a:avLst/>
            </a:prstGeom>
            <a:noFill/>
          </p:spPr>
          <p:txBody>
            <a:bodyPr wrap="square">
              <a:spAutoFit/>
            </a:bodyPr>
            <a:lstStyle/>
            <a:p>
              <a:r>
                <a:rPr lang="en-US" sz="3600" dirty="0">
                  <a:solidFill>
                    <a:srgbClr val="CA7C42"/>
                  </a:solidFill>
                  <a:cs typeface="Times New Roman" panose="02020603050405020304" pitchFamily="18" charset="0"/>
                </a:rPr>
                <a:t>AdiCloud</a:t>
              </a:r>
            </a:p>
          </p:txBody>
        </p:sp>
        <p:sp>
          <p:nvSpPr>
            <p:cNvPr id="14" name="TextBox 13">
              <a:extLst>
                <a:ext uri="{FF2B5EF4-FFF2-40B4-BE49-F238E27FC236}">
                  <a16:creationId xmlns:a16="http://schemas.microsoft.com/office/drawing/2014/main" id="{F7A0CB83-4A2C-D1E5-5259-276EE8E59C5B}"/>
                </a:ext>
              </a:extLst>
            </p:cNvPr>
            <p:cNvSpPr txBox="1"/>
            <p:nvPr/>
          </p:nvSpPr>
          <p:spPr>
            <a:xfrm>
              <a:off x="5581104" y="1132158"/>
              <a:ext cx="664288" cy="923330"/>
            </a:xfrm>
            <a:prstGeom prst="rect">
              <a:avLst/>
            </a:prstGeom>
            <a:noFill/>
          </p:spPr>
          <p:txBody>
            <a:bodyPr wrap="square">
              <a:spAutoFit/>
            </a:bodyPr>
            <a:lstStyle/>
            <a:p>
              <a:r>
                <a:rPr lang="en-US" sz="5400" dirty="0">
                  <a:solidFill>
                    <a:srgbClr val="1589CB"/>
                  </a:solidFill>
                  <a:latin typeface="Broadway" panose="04040905080B02020502" pitchFamily="82" charset="0"/>
                </a:rPr>
                <a:t>X</a:t>
              </a:r>
              <a:endParaRPr lang="en-US" sz="3600" dirty="0">
                <a:solidFill>
                  <a:srgbClr val="1589CB"/>
                </a:solidFill>
                <a:latin typeface="Broadway" panose="04040905080B02020502" pitchFamily="82" charset="0"/>
              </a:endParaRPr>
            </a:p>
          </p:txBody>
        </p:sp>
      </p:grpSp>
      <p:sp>
        <p:nvSpPr>
          <p:cNvPr id="2" name="TextBox 1">
            <a:extLst>
              <a:ext uri="{FF2B5EF4-FFF2-40B4-BE49-F238E27FC236}">
                <a16:creationId xmlns:a16="http://schemas.microsoft.com/office/drawing/2014/main" id="{3E3ED3E5-965B-5B23-FCE6-3E4454CE4D9D}"/>
              </a:ext>
            </a:extLst>
          </p:cNvPr>
          <p:cNvSpPr txBox="1"/>
          <p:nvPr/>
        </p:nvSpPr>
        <p:spPr>
          <a:xfrm>
            <a:off x="3890839" y="2600740"/>
            <a:ext cx="6096000" cy="369332"/>
          </a:xfrm>
          <a:prstGeom prst="rect">
            <a:avLst/>
          </a:prstGeom>
          <a:noFill/>
        </p:spPr>
        <p:txBody>
          <a:bodyPr wrap="square">
            <a:spAutoFit/>
          </a:bodyPr>
          <a:lstStyle/>
          <a:p>
            <a:r>
              <a:rPr lang="en-US" dirty="0"/>
              <a:t>Your Industrial IoT Cloud for Smarter Operations</a:t>
            </a:r>
          </a:p>
        </p:txBody>
      </p:sp>
      <p:sp>
        <p:nvSpPr>
          <p:cNvPr id="4" name="TextBox 3">
            <a:extLst>
              <a:ext uri="{FF2B5EF4-FFF2-40B4-BE49-F238E27FC236}">
                <a16:creationId xmlns:a16="http://schemas.microsoft.com/office/drawing/2014/main" id="{892FBD55-CFDF-ACFC-A200-5F81EFB81F06}"/>
              </a:ext>
            </a:extLst>
          </p:cNvPr>
          <p:cNvSpPr txBox="1"/>
          <p:nvPr/>
        </p:nvSpPr>
        <p:spPr>
          <a:xfrm>
            <a:off x="936792" y="5448843"/>
            <a:ext cx="6096000" cy="923330"/>
          </a:xfrm>
          <a:prstGeom prst="rect">
            <a:avLst/>
          </a:prstGeom>
          <a:noFill/>
        </p:spPr>
        <p:txBody>
          <a:bodyPr wrap="square">
            <a:spAutoFit/>
          </a:bodyPr>
          <a:lstStyle/>
          <a:p>
            <a:r>
              <a:rPr lang="en-US" dirty="0"/>
              <a:t>X: Font :Broadway 54 size</a:t>
            </a:r>
          </a:p>
          <a:p>
            <a:r>
              <a:rPr lang="en-US" dirty="0" err="1"/>
              <a:t>AdiLogic</a:t>
            </a:r>
            <a:r>
              <a:rPr lang="en-US" dirty="0"/>
              <a:t>: Font: Calibri 36 Size</a:t>
            </a:r>
          </a:p>
          <a:p>
            <a:r>
              <a:rPr lang="en-US" dirty="0"/>
              <a:t>Tag Line: Calibri 18</a:t>
            </a:r>
          </a:p>
        </p:txBody>
      </p:sp>
      <p:sp>
        <p:nvSpPr>
          <p:cNvPr id="5" name="TextBox 4">
            <a:extLst>
              <a:ext uri="{FF2B5EF4-FFF2-40B4-BE49-F238E27FC236}">
                <a16:creationId xmlns:a16="http://schemas.microsoft.com/office/drawing/2014/main" id="{1E36AD4F-7E07-D783-98D1-E37907D3FB0B}"/>
              </a:ext>
            </a:extLst>
          </p:cNvPr>
          <p:cNvSpPr txBox="1"/>
          <p:nvPr/>
        </p:nvSpPr>
        <p:spPr>
          <a:xfrm>
            <a:off x="6805905" y="5725842"/>
            <a:ext cx="6097554" cy="646331"/>
          </a:xfrm>
          <a:prstGeom prst="rect">
            <a:avLst/>
          </a:prstGeom>
          <a:noFill/>
        </p:spPr>
        <p:txBody>
          <a:bodyPr wrap="square">
            <a:spAutoFit/>
          </a:bodyPr>
          <a:lstStyle/>
          <a:p>
            <a:r>
              <a:rPr lang="en-US" dirty="0"/>
              <a:t>AdiInfi Logo Blue Color: #1589CB</a:t>
            </a:r>
          </a:p>
          <a:p>
            <a:r>
              <a:rPr lang="en-US" dirty="0"/>
              <a:t>AdiInfi Logo Orange Color: #CA7C42</a:t>
            </a:r>
          </a:p>
        </p:txBody>
      </p:sp>
      <p:grpSp>
        <p:nvGrpSpPr>
          <p:cNvPr id="16" name="Group 15">
            <a:extLst>
              <a:ext uri="{FF2B5EF4-FFF2-40B4-BE49-F238E27FC236}">
                <a16:creationId xmlns:a16="http://schemas.microsoft.com/office/drawing/2014/main" id="{BDF708E1-F73A-7B2D-6A3C-32B57F41284E}"/>
              </a:ext>
            </a:extLst>
          </p:cNvPr>
          <p:cNvGrpSpPr/>
          <p:nvPr/>
        </p:nvGrpSpPr>
        <p:grpSpPr>
          <a:xfrm>
            <a:off x="3890839" y="3245192"/>
            <a:ext cx="2354553" cy="923330"/>
            <a:chOff x="3890839" y="1132158"/>
            <a:chExt cx="2354553" cy="923330"/>
          </a:xfrm>
        </p:grpSpPr>
        <p:sp>
          <p:nvSpPr>
            <p:cNvPr id="17" name="TextBox 16">
              <a:extLst>
                <a:ext uri="{FF2B5EF4-FFF2-40B4-BE49-F238E27FC236}">
                  <a16:creationId xmlns:a16="http://schemas.microsoft.com/office/drawing/2014/main" id="{25B8EC6A-40E6-5D44-7371-7161F97462E0}"/>
                </a:ext>
              </a:extLst>
            </p:cNvPr>
            <p:cNvSpPr txBox="1"/>
            <p:nvPr/>
          </p:nvSpPr>
          <p:spPr>
            <a:xfrm>
              <a:off x="3890839" y="1370038"/>
              <a:ext cx="1873622" cy="646331"/>
            </a:xfrm>
            <a:prstGeom prst="rect">
              <a:avLst/>
            </a:prstGeom>
            <a:noFill/>
          </p:spPr>
          <p:txBody>
            <a:bodyPr wrap="square">
              <a:spAutoFit/>
            </a:bodyPr>
            <a:lstStyle/>
            <a:p>
              <a:r>
                <a:rPr lang="en-US" sz="3600" dirty="0">
                  <a:cs typeface="Times New Roman" panose="02020603050405020304" pitchFamily="18" charset="0"/>
                </a:rPr>
                <a:t>AdiCloud</a:t>
              </a:r>
            </a:p>
          </p:txBody>
        </p:sp>
        <p:sp>
          <p:nvSpPr>
            <p:cNvPr id="18" name="TextBox 17">
              <a:extLst>
                <a:ext uri="{FF2B5EF4-FFF2-40B4-BE49-F238E27FC236}">
                  <a16:creationId xmlns:a16="http://schemas.microsoft.com/office/drawing/2014/main" id="{A04D4638-B073-8797-37E9-8D14CEB76B5A}"/>
                </a:ext>
              </a:extLst>
            </p:cNvPr>
            <p:cNvSpPr txBox="1"/>
            <p:nvPr/>
          </p:nvSpPr>
          <p:spPr>
            <a:xfrm>
              <a:off x="5581104" y="1132158"/>
              <a:ext cx="664288" cy="923330"/>
            </a:xfrm>
            <a:prstGeom prst="rect">
              <a:avLst/>
            </a:prstGeom>
            <a:noFill/>
          </p:spPr>
          <p:txBody>
            <a:bodyPr wrap="square">
              <a:spAutoFit/>
            </a:bodyPr>
            <a:lstStyle/>
            <a:p>
              <a:r>
                <a:rPr lang="en-US" sz="5400" dirty="0">
                  <a:latin typeface="Broadway" panose="04040905080B02020502" pitchFamily="82" charset="0"/>
                </a:rPr>
                <a:t>X</a:t>
              </a:r>
              <a:endParaRPr lang="en-US" sz="3600" dirty="0">
                <a:latin typeface="Broadway" panose="04040905080B02020502" pitchFamily="82" charset="0"/>
              </a:endParaRPr>
            </a:p>
          </p:txBody>
        </p:sp>
      </p:grpSp>
      <p:sp>
        <p:nvSpPr>
          <p:cNvPr id="19" name="TextBox 18">
            <a:extLst>
              <a:ext uri="{FF2B5EF4-FFF2-40B4-BE49-F238E27FC236}">
                <a16:creationId xmlns:a16="http://schemas.microsoft.com/office/drawing/2014/main" id="{2C19AFEC-DB8F-33BC-1613-CE59389C1EFA}"/>
              </a:ext>
            </a:extLst>
          </p:cNvPr>
          <p:cNvSpPr txBox="1"/>
          <p:nvPr/>
        </p:nvSpPr>
        <p:spPr>
          <a:xfrm>
            <a:off x="3890839" y="4037070"/>
            <a:ext cx="6096000" cy="369332"/>
          </a:xfrm>
          <a:prstGeom prst="rect">
            <a:avLst/>
          </a:prstGeom>
          <a:noFill/>
        </p:spPr>
        <p:txBody>
          <a:bodyPr wrap="square">
            <a:spAutoFit/>
          </a:bodyPr>
          <a:lstStyle/>
          <a:p>
            <a:r>
              <a:rPr lang="en-US" dirty="0"/>
              <a:t>Your Industrial IoT Cloud for Smarter Operations</a:t>
            </a:r>
          </a:p>
        </p:txBody>
      </p:sp>
      <p:grpSp>
        <p:nvGrpSpPr>
          <p:cNvPr id="20" name="Group 19">
            <a:extLst>
              <a:ext uri="{FF2B5EF4-FFF2-40B4-BE49-F238E27FC236}">
                <a16:creationId xmlns:a16="http://schemas.microsoft.com/office/drawing/2014/main" id="{C21A001D-A774-204B-34A5-EE6117F09A37}"/>
              </a:ext>
            </a:extLst>
          </p:cNvPr>
          <p:cNvGrpSpPr/>
          <p:nvPr/>
        </p:nvGrpSpPr>
        <p:grpSpPr>
          <a:xfrm>
            <a:off x="3890839" y="223933"/>
            <a:ext cx="2354553" cy="923330"/>
            <a:chOff x="3890839" y="1132158"/>
            <a:chExt cx="2354553" cy="923330"/>
          </a:xfrm>
        </p:grpSpPr>
        <p:sp>
          <p:nvSpPr>
            <p:cNvPr id="21" name="TextBox 20">
              <a:extLst>
                <a:ext uri="{FF2B5EF4-FFF2-40B4-BE49-F238E27FC236}">
                  <a16:creationId xmlns:a16="http://schemas.microsoft.com/office/drawing/2014/main" id="{0AA9E188-AD14-87B2-BDAC-CB4C8DA44A96}"/>
                </a:ext>
              </a:extLst>
            </p:cNvPr>
            <p:cNvSpPr txBox="1"/>
            <p:nvPr/>
          </p:nvSpPr>
          <p:spPr>
            <a:xfrm>
              <a:off x="3890839" y="1370038"/>
              <a:ext cx="1873622" cy="646331"/>
            </a:xfrm>
            <a:prstGeom prst="rect">
              <a:avLst/>
            </a:prstGeom>
            <a:noFill/>
          </p:spPr>
          <p:txBody>
            <a:bodyPr wrap="square">
              <a:spAutoFit/>
            </a:bodyPr>
            <a:lstStyle/>
            <a:p>
              <a:r>
                <a:rPr lang="en-US" sz="3600" dirty="0">
                  <a:solidFill>
                    <a:srgbClr val="1589CB"/>
                  </a:solidFill>
                  <a:cs typeface="Times New Roman" panose="02020603050405020304" pitchFamily="18" charset="0"/>
                </a:rPr>
                <a:t>AdiCloud</a:t>
              </a:r>
            </a:p>
          </p:txBody>
        </p:sp>
        <p:sp>
          <p:nvSpPr>
            <p:cNvPr id="22" name="TextBox 21">
              <a:extLst>
                <a:ext uri="{FF2B5EF4-FFF2-40B4-BE49-F238E27FC236}">
                  <a16:creationId xmlns:a16="http://schemas.microsoft.com/office/drawing/2014/main" id="{F517218C-3F9E-93BB-E0AB-F3EA7A634828}"/>
                </a:ext>
              </a:extLst>
            </p:cNvPr>
            <p:cNvSpPr txBox="1"/>
            <p:nvPr/>
          </p:nvSpPr>
          <p:spPr>
            <a:xfrm>
              <a:off x="5581104" y="1132158"/>
              <a:ext cx="664288" cy="923330"/>
            </a:xfrm>
            <a:prstGeom prst="rect">
              <a:avLst/>
            </a:prstGeom>
            <a:noFill/>
          </p:spPr>
          <p:txBody>
            <a:bodyPr wrap="square">
              <a:spAutoFit/>
            </a:bodyPr>
            <a:lstStyle/>
            <a:p>
              <a:r>
                <a:rPr lang="en-US" sz="5400" dirty="0">
                  <a:solidFill>
                    <a:srgbClr val="CA7C42"/>
                  </a:solidFill>
                  <a:latin typeface="Broadway" panose="04040905080B02020502" pitchFamily="82" charset="0"/>
                </a:rPr>
                <a:t>X</a:t>
              </a:r>
              <a:endParaRPr lang="en-US" sz="3600" dirty="0">
                <a:solidFill>
                  <a:srgbClr val="CA7C42"/>
                </a:solidFill>
                <a:latin typeface="Broadway" panose="04040905080B02020502" pitchFamily="82" charset="0"/>
              </a:endParaRPr>
            </a:p>
          </p:txBody>
        </p:sp>
      </p:grpSp>
      <p:sp>
        <p:nvSpPr>
          <p:cNvPr id="23" name="TextBox 22">
            <a:extLst>
              <a:ext uri="{FF2B5EF4-FFF2-40B4-BE49-F238E27FC236}">
                <a16:creationId xmlns:a16="http://schemas.microsoft.com/office/drawing/2014/main" id="{544E75D5-98CB-F4EC-28D8-405A5EBBF018}"/>
              </a:ext>
            </a:extLst>
          </p:cNvPr>
          <p:cNvSpPr txBox="1"/>
          <p:nvPr/>
        </p:nvSpPr>
        <p:spPr>
          <a:xfrm>
            <a:off x="3890839" y="1015811"/>
            <a:ext cx="6096000" cy="369332"/>
          </a:xfrm>
          <a:prstGeom prst="rect">
            <a:avLst/>
          </a:prstGeom>
          <a:noFill/>
        </p:spPr>
        <p:txBody>
          <a:bodyPr wrap="square">
            <a:spAutoFit/>
          </a:bodyPr>
          <a:lstStyle/>
          <a:p>
            <a:r>
              <a:rPr lang="en-US" dirty="0"/>
              <a:t>Your Industrial IoT Cloud for Smarter Operations</a:t>
            </a:r>
          </a:p>
        </p:txBody>
      </p:sp>
      <p:sp>
        <p:nvSpPr>
          <p:cNvPr id="7" name="TextBox 6">
            <a:extLst>
              <a:ext uri="{FF2B5EF4-FFF2-40B4-BE49-F238E27FC236}">
                <a16:creationId xmlns:a16="http://schemas.microsoft.com/office/drawing/2014/main" id="{6E3AE218-CC82-97B7-F7A2-65E4C14C2FD2}"/>
              </a:ext>
            </a:extLst>
          </p:cNvPr>
          <p:cNvSpPr txBox="1"/>
          <p:nvPr/>
        </p:nvSpPr>
        <p:spPr>
          <a:xfrm>
            <a:off x="9317496" y="350832"/>
            <a:ext cx="2596597" cy="646331"/>
          </a:xfrm>
          <a:prstGeom prst="rect">
            <a:avLst/>
          </a:prstGeom>
          <a:noFill/>
        </p:spPr>
        <p:txBody>
          <a:bodyPr wrap="square">
            <a:spAutoFit/>
          </a:bodyPr>
          <a:lstStyle/>
          <a:p>
            <a:r>
              <a:rPr lang="en-US" sz="3600" dirty="0">
                <a:solidFill>
                  <a:srgbClr val="1589CB"/>
                </a:solidFill>
                <a:cs typeface="Times New Roman" panose="02020603050405020304" pitchFamily="18" charset="0"/>
              </a:rPr>
              <a:t>Adi</a:t>
            </a:r>
            <a:r>
              <a:rPr lang="en-US" sz="3600" dirty="0">
                <a:solidFill>
                  <a:srgbClr val="CA7C42"/>
                </a:solidFill>
                <a:cs typeface="Times New Roman" panose="02020603050405020304" pitchFamily="18" charset="0"/>
              </a:rPr>
              <a:t>RMS</a:t>
            </a:r>
            <a:r>
              <a:rPr lang="en-US" sz="3600" dirty="0">
                <a:solidFill>
                  <a:srgbClr val="1589CB"/>
                </a:solidFill>
                <a:cs typeface="Times New Roman" panose="02020603050405020304" pitchFamily="18" charset="0"/>
              </a:rPr>
              <a:t>-</a:t>
            </a:r>
            <a:r>
              <a:rPr lang="en-US" sz="3600" dirty="0">
                <a:solidFill>
                  <a:srgbClr val="595959"/>
                </a:solidFill>
                <a:cs typeface="Times New Roman" panose="02020603050405020304" pitchFamily="18" charset="0"/>
              </a:rPr>
              <a:t>VPN</a:t>
            </a:r>
          </a:p>
        </p:txBody>
      </p:sp>
    </p:spTree>
    <p:extLst>
      <p:ext uri="{BB962C8B-B14F-4D97-AF65-F5344CB8AC3E}">
        <p14:creationId xmlns:p14="http://schemas.microsoft.com/office/powerpoint/2010/main" val="2063329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7FB6E1-A4EF-D7A9-303E-CD0853CC20ED}"/>
              </a:ext>
            </a:extLst>
          </p:cNvPr>
          <p:cNvSpPr/>
          <p:nvPr/>
        </p:nvSpPr>
        <p:spPr>
          <a:xfrm rot="16200000">
            <a:off x="6431277" y="1456924"/>
            <a:ext cx="1440000" cy="223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 name="TextBox 7">
            <a:extLst>
              <a:ext uri="{FF2B5EF4-FFF2-40B4-BE49-F238E27FC236}">
                <a16:creationId xmlns:a16="http://schemas.microsoft.com/office/drawing/2014/main" id="{5F6D890E-E24F-8A30-8672-8A53515D0A22}"/>
              </a:ext>
            </a:extLst>
          </p:cNvPr>
          <p:cNvSpPr txBox="1"/>
          <p:nvPr/>
        </p:nvSpPr>
        <p:spPr>
          <a:xfrm rot="5400000" flipV="1">
            <a:off x="7375050" y="2500549"/>
            <a:ext cx="1495305" cy="200055"/>
          </a:xfrm>
          <a:prstGeom prst="rect">
            <a:avLst/>
          </a:prstGeom>
          <a:noFill/>
        </p:spPr>
        <p:txBody>
          <a:bodyPr wrap="square">
            <a:spAutoFit/>
          </a:bodyPr>
          <a:lstStyle/>
          <a:p>
            <a:pPr algn="ctr"/>
            <a:r>
              <a:rPr lang="en-US" sz="700" dirty="0"/>
              <a:t>The Pulse Between Edge and Cloud</a:t>
            </a:r>
          </a:p>
        </p:txBody>
      </p:sp>
      <p:sp>
        <p:nvSpPr>
          <p:cNvPr id="12" name="Rectangle 11">
            <a:extLst>
              <a:ext uri="{FF2B5EF4-FFF2-40B4-BE49-F238E27FC236}">
                <a16:creationId xmlns:a16="http://schemas.microsoft.com/office/drawing/2014/main" id="{D49DDDEB-424A-A0EE-9AD6-823B33ED5D78}"/>
              </a:ext>
            </a:extLst>
          </p:cNvPr>
          <p:cNvSpPr/>
          <p:nvPr/>
        </p:nvSpPr>
        <p:spPr>
          <a:xfrm rot="16200000">
            <a:off x="6791277" y="2713578"/>
            <a:ext cx="720000" cy="22320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D561061A-1F21-CD8F-A77D-1A7A50BE9DEF}"/>
              </a:ext>
            </a:extLst>
          </p:cNvPr>
          <p:cNvSpPr/>
          <p:nvPr/>
        </p:nvSpPr>
        <p:spPr>
          <a:xfrm rot="16200000">
            <a:off x="6950494" y="2872796"/>
            <a:ext cx="408124" cy="2225439"/>
          </a:xfrm>
          <a:prstGeom prst="rect">
            <a:avLst/>
          </a:prstGeom>
          <a:solidFill>
            <a:srgbClr val="6BB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631BD6D-833B-01EF-A07E-7BC977DBE676}"/>
              </a:ext>
            </a:extLst>
          </p:cNvPr>
          <p:cNvSpPr txBox="1"/>
          <p:nvPr/>
        </p:nvSpPr>
        <p:spPr>
          <a:xfrm>
            <a:off x="6054302" y="3781454"/>
            <a:ext cx="2135264" cy="276999"/>
          </a:xfrm>
          <a:prstGeom prst="rect">
            <a:avLst/>
          </a:prstGeom>
          <a:noFill/>
        </p:spPr>
        <p:txBody>
          <a:bodyPr wrap="square">
            <a:spAutoFit/>
          </a:bodyPr>
          <a:lstStyle/>
          <a:p>
            <a:r>
              <a:rPr lang="en-US" sz="1200" b="1" i="0" dirty="0">
                <a:solidFill>
                  <a:schemeClr val="bg1"/>
                </a:solidFill>
                <a:effectLst/>
              </a:rPr>
              <a:t>ADIGW-33901 </a:t>
            </a:r>
            <a:r>
              <a:rPr lang="en-US" sz="700" b="1" i="0" dirty="0">
                <a:solidFill>
                  <a:schemeClr val="bg1"/>
                </a:solidFill>
                <a:effectLst/>
              </a:rPr>
              <a:t>V 1.0</a:t>
            </a:r>
            <a:endParaRPr lang="en-US" sz="1200" dirty="0">
              <a:solidFill>
                <a:schemeClr val="bg1"/>
              </a:solidFill>
            </a:endParaRPr>
          </a:p>
        </p:txBody>
      </p:sp>
      <p:grpSp>
        <p:nvGrpSpPr>
          <p:cNvPr id="57" name="Group 56">
            <a:extLst>
              <a:ext uri="{FF2B5EF4-FFF2-40B4-BE49-F238E27FC236}">
                <a16:creationId xmlns:a16="http://schemas.microsoft.com/office/drawing/2014/main" id="{4890CA28-01B7-487B-E514-908B7FE04893}"/>
              </a:ext>
            </a:extLst>
          </p:cNvPr>
          <p:cNvGrpSpPr/>
          <p:nvPr/>
        </p:nvGrpSpPr>
        <p:grpSpPr>
          <a:xfrm rot="16200000">
            <a:off x="7043373" y="3027226"/>
            <a:ext cx="200055" cy="2178193"/>
            <a:chOff x="3241345" y="818287"/>
            <a:chExt cx="200055" cy="1251144"/>
          </a:xfrm>
        </p:grpSpPr>
        <p:sp>
          <p:nvSpPr>
            <p:cNvPr id="18" name="TextBox 17">
              <a:extLst>
                <a:ext uri="{FF2B5EF4-FFF2-40B4-BE49-F238E27FC236}">
                  <a16:creationId xmlns:a16="http://schemas.microsoft.com/office/drawing/2014/main" id="{D816E13D-500D-4456-DEDD-BAA0950DF365}"/>
                </a:ext>
              </a:extLst>
            </p:cNvPr>
            <p:cNvSpPr txBox="1"/>
            <p:nvPr/>
          </p:nvSpPr>
          <p:spPr>
            <a:xfrm rot="5400000">
              <a:off x="2715801" y="1343831"/>
              <a:ext cx="1251144" cy="200055"/>
            </a:xfrm>
            <a:prstGeom prst="rect">
              <a:avLst/>
            </a:prstGeom>
            <a:noFill/>
          </p:spPr>
          <p:txBody>
            <a:bodyPr wrap="square">
              <a:spAutoFit/>
            </a:bodyPr>
            <a:lstStyle/>
            <a:p>
              <a:r>
                <a:rPr lang="en-US" sz="700" b="1" i="0" dirty="0">
                  <a:solidFill>
                    <a:schemeClr val="bg1"/>
                  </a:solidFill>
                  <a:effectLst/>
                </a:rPr>
                <a:t>Power:  5-24V DC</a:t>
              </a:r>
              <a:endParaRPr lang="en-US" sz="700" dirty="0">
                <a:solidFill>
                  <a:schemeClr val="bg1"/>
                </a:solidFill>
              </a:endParaRPr>
            </a:p>
          </p:txBody>
        </p:sp>
        <p:cxnSp>
          <p:nvCxnSpPr>
            <p:cNvPr id="22" name="Straight Connector 21">
              <a:extLst>
                <a:ext uri="{FF2B5EF4-FFF2-40B4-BE49-F238E27FC236}">
                  <a16:creationId xmlns:a16="http://schemas.microsoft.com/office/drawing/2014/main" id="{0228B9C0-A7B5-BD22-5AED-EF0724605615}"/>
                </a:ext>
              </a:extLst>
            </p:cNvPr>
            <p:cNvCxnSpPr>
              <a:cxnSpLocks/>
            </p:cNvCxnSpPr>
            <p:nvPr/>
          </p:nvCxnSpPr>
          <p:spPr>
            <a:xfrm rot="5400000">
              <a:off x="3331399" y="1309692"/>
              <a:ext cx="74592" cy="0"/>
            </a:xfrm>
            <a:prstGeom prst="line">
              <a:avLst/>
            </a:prstGeom>
            <a:ln>
              <a:solidFill>
                <a:schemeClr val="bg1"/>
              </a:solidFill>
            </a:ln>
          </p:spPr>
          <p:style>
            <a:lnRef idx="3">
              <a:schemeClr val="accent1"/>
            </a:lnRef>
            <a:fillRef idx="0">
              <a:schemeClr val="accent1"/>
            </a:fillRef>
            <a:effectRef idx="2">
              <a:schemeClr val="accent1"/>
            </a:effectRef>
            <a:fontRef idx="minor">
              <a:schemeClr val="tx1"/>
            </a:fontRef>
          </p:style>
        </p:cxnSp>
        <p:cxnSp>
          <p:nvCxnSpPr>
            <p:cNvPr id="23" name="Straight Connector 22">
              <a:extLst>
                <a:ext uri="{FF2B5EF4-FFF2-40B4-BE49-F238E27FC236}">
                  <a16:creationId xmlns:a16="http://schemas.microsoft.com/office/drawing/2014/main" id="{11558E3A-936B-2907-2D2F-11A93BBF25EF}"/>
                </a:ext>
              </a:extLst>
            </p:cNvPr>
            <p:cNvCxnSpPr>
              <a:cxnSpLocks/>
            </p:cNvCxnSpPr>
            <p:nvPr/>
          </p:nvCxnSpPr>
          <p:spPr>
            <a:xfrm rot="5400000">
              <a:off x="3288335" y="1316353"/>
              <a:ext cx="87915" cy="0"/>
            </a:xfrm>
            <a:prstGeom prst="line">
              <a:avLst/>
            </a:prstGeom>
            <a:ln>
              <a:solidFill>
                <a:schemeClr val="bg1"/>
              </a:solidFill>
              <a:prstDash val="sysDash"/>
            </a:ln>
          </p:spPr>
          <p:style>
            <a:lnRef idx="3">
              <a:schemeClr val="accent1"/>
            </a:lnRef>
            <a:fillRef idx="0">
              <a:schemeClr val="accent1"/>
            </a:fillRef>
            <a:effectRef idx="2">
              <a:schemeClr val="accent1"/>
            </a:effectRef>
            <a:fontRef idx="minor">
              <a:schemeClr val="tx1"/>
            </a:fontRef>
          </p:style>
        </p:cxnSp>
      </p:grpSp>
      <p:sp>
        <p:nvSpPr>
          <p:cNvPr id="26" name="Rectangle: Rounded Corners 25">
            <a:extLst>
              <a:ext uri="{FF2B5EF4-FFF2-40B4-BE49-F238E27FC236}">
                <a16:creationId xmlns:a16="http://schemas.microsoft.com/office/drawing/2014/main" id="{DC0538FE-3E3E-75C5-8080-252FAB35142D}"/>
              </a:ext>
            </a:extLst>
          </p:cNvPr>
          <p:cNvSpPr/>
          <p:nvPr/>
        </p:nvSpPr>
        <p:spPr>
          <a:xfrm rot="16200000">
            <a:off x="7423390" y="2478741"/>
            <a:ext cx="247775" cy="90798"/>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grpSp>
        <p:nvGrpSpPr>
          <p:cNvPr id="35" name="Group 34">
            <a:extLst>
              <a:ext uri="{FF2B5EF4-FFF2-40B4-BE49-F238E27FC236}">
                <a16:creationId xmlns:a16="http://schemas.microsoft.com/office/drawing/2014/main" id="{66A8CDD7-B56A-3D6C-EA2D-1E239FF14C17}"/>
              </a:ext>
            </a:extLst>
          </p:cNvPr>
          <p:cNvGrpSpPr/>
          <p:nvPr/>
        </p:nvGrpSpPr>
        <p:grpSpPr>
          <a:xfrm rot="16200000">
            <a:off x="6356224" y="2769573"/>
            <a:ext cx="184666" cy="717475"/>
            <a:chOff x="3889262" y="742949"/>
            <a:chExt cx="257446" cy="926478"/>
          </a:xfrm>
        </p:grpSpPr>
        <p:sp>
          <p:nvSpPr>
            <p:cNvPr id="33" name="Rectangle: Rounded Corners 32">
              <a:extLst>
                <a:ext uri="{FF2B5EF4-FFF2-40B4-BE49-F238E27FC236}">
                  <a16:creationId xmlns:a16="http://schemas.microsoft.com/office/drawing/2014/main" id="{0C914941-20EB-3721-68D5-1F3FD4C8ABF2}"/>
                </a:ext>
              </a:extLst>
            </p:cNvPr>
            <p:cNvSpPr/>
            <p:nvPr/>
          </p:nvSpPr>
          <p:spPr>
            <a:xfrm rot="5400000">
              <a:off x="3657745" y="995215"/>
              <a:ext cx="704854" cy="200321"/>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1" name="Oval 30">
              <a:extLst>
                <a:ext uri="{FF2B5EF4-FFF2-40B4-BE49-F238E27FC236}">
                  <a16:creationId xmlns:a16="http://schemas.microsoft.com/office/drawing/2014/main" id="{55F0C8D6-E343-C2EE-6328-7019239D55F1}"/>
                </a:ext>
              </a:extLst>
            </p:cNvPr>
            <p:cNvSpPr/>
            <p:nvPr/>
          </p:nvSpPr>
          <p:spPr>
            <a:xfrm>
              <a:off x="3953022" y="819150"/>
              <a:ext cx="114300" cy="1143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F0BB061-1F5B-F945-B6A9-102A497DFF85}"/>
                </a:ext>
              </a:extLst>
            </p:cNvPr>
            <p:cNvSpPr txBox="1"/>
            <p:nvPr/>
          </p:nvSpPr>
          <p:spPr>
            <a:xfrm rot="5400000">
              <a:off x="3649996" y="1172716"/>
              <a:ext cx="735977" cy="257446"/>
            </a:xfrm>
            <a:prstGeom prst="rect">
              <a:avLst/>
            </a:prstGeom>
            <a:noFill/>
          </p:spPr>
          <p:txBody>
            <a:bodyPr wrap="square">
              <a:spAutoFit/>
            </a:bodyPr>
            <a:lstStyle/>
            <a:p>
              <a:r>
                <a:rPr lang="en-US" sz="600" dirty="0">
                  <a:solidFill>
                    <a:schemeClr val="bg1"/>
                  </a:solidFill>
                </a:rPr>
                <a:t>Power</a:t>
              </a:r>
            </a:p>
          </p:txBody>
        </p:sp>
      </p:grpSp>
      <p:grpSp>
        <p:nvGrpSpPr>
          <p:cNvPr id="36" name="Group 35">
            <a:extLst>
              <a:ext uri="{FF2B5EF4-FFF2-40B4-BE49-F238E27FC236}">
                <a16:creationId xmlns:a16="http://schemas.microsoft.com/office/drawing/2014/main" id="{B57A5A9C-3F57-67D8-B66C-9250C46E5A50}"/>
              </a:ext>
            </a:extLst>
          </p:cNvPr>
          <p:cNvGrpSpPr/>
          <p:nvPr/>
        </p:nvGrpSpPr>
        <p:grpSpPr>
          <a:xfrm rot="16200000">
            <a:off x="6356224" y="2552652"/>
            <a:ext cx="184666" cy="717475"/>
            <a:chOff x="3889262" y="742949"/>
            <a:chExt cx="257446" cy="926478"/>
          </a:xfrm>
        </p:grpSpPr>
        <p:sp>
          <p:nvSpPr>
            <p:cNvPr id="37" name="Rectangle: Rounded Corners 36">
              <a:extLst>
                <a:ext uri="{FF2B5EF4-FFF2-40B4-BE49-F238E27FC236}">
                  <a16:creationId xmlns:a16="http://schemas.microsoft.com/office/drawing/2014/main" id="{BE0B0C51-5470-4203-C634-0955F8B9AD24}"/>
                </a:ext>
              </a:extLst>
            </p:cNvPr>
            <p:cNvSpPr/>
            <p:nvPr/>
          </p:nvSpPr>
          <p:spPr>
            <a:xfrm rot="5400000">
              <a:off x="3657745" y="995215"/>
              <a:ext cx="704854" cy="200321"/>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38" name="Oval 37">
              <a:extLst>
                <a:ext uri="{FF2B5EF4-FFF2-40B4-BE49-F238E27FC236}">
                  <a16:creationId xmlns:a16="http://schemas.microsoft.com/office/drawing/2014/main" id="{7649A47D-31AC-C8F4-CDDC-373CDB72CBF5}"/>
                </a:ext>
              </a:extLst>
            </p:cNvPr>
            <p:cNvSpPr/>
            <p:nvPr/>
          </p:nvSpPr>
          <p:spPr>
            <a:xfrm>
              <a:off x="3953022" y="819150"/>
              <a:ext cx="114300" cy="1143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6E44DAC-2991-6475-EF07-17388B3EEBBF}"/>
                </a:ext>
              </a:extLst>
            </p:cNvPr>
            <p:cNvSpPr txBox="1"/>
            <p:nvPr/>
          </p:nvSpPr>
          <p:spPr>
            <a:xfrm rot="5400000">
              <a:off x="3649996" y="1172716"/>
              <a:ext cx="735977" cy="257446"/>
            </a:xfrm>
            <a:prstGeom prst="rect">
              <a:avLst/>
            </a:prstGeom>
            <a:noFill/>
          </p:spPr>
          <p:txBody>
            <a:bodyPr wrap="square">
              <a:spAutoFit/>
            </a:bodyPr>
            <a:lstStyle/>
            <a:p>
              <a:r>
                <a:rPr lang="en-US" sz="600" dirty="0">
                  <a:solidFill>
                    <a:schemeClr val="bg1"/>
                  </a:solidFill>
                </a:rPr>
                <a:t>Power</a:t>
              </a:r>
            </a:p>
          </p:txBody>
        </p:sp>
      </p:grpSp>
      <p:grpSp>
        <p:nvGrpSpPr>
          <p:cNvPr id="40" name="Group 39">
            <a:extLst>
              <a:ext uri="{FF2B5EF4-FFF2-40B4-BE49-F238E27FC236}">
                <a16:creationId xmlns:a16="http://schemas.microsoft.com/office/drawing/2014/main" id="{359BAF64-6D40-EDBC-7B79-52A76B1B624F}"/>
              </a:ext>
            </a:extLst>
          </p:cNvPr>
          <p:cNvGrpSpPr/>
          <p:nvPr/>
        </p:nvGrpSpPr>
        <p:grpSpPr>
          <a:xfrm rot="16200000">
            <a:off x="6356224" y="2335729"/>
            <a:ext cx="184666" cy="717475"/>
            <a:chOff x="3889262" y="742949"/>
            <a:chExt cx="257446" cy="926478"/>
          </a:xfrm>
        </p:grpSpPr>
        <p:sp>
          <p:nvSpPr>
            <p:cNvPr id="41" name="Rectangle: Rounded Corners 40">
              <a:extLst>
                <a:ext uri="{FF2B5EF4-FFF2-40B4-BE49-F238E27FC236}">
                  <a16:creationId xmlns:a16="http://schemas.microsoft.com/office/drawing/2014/main" id="{D280A38E-364A-53AF-2702-CE8850748682}"/>
                </a:ext>
              </a:extLst>
            </p:cNvPr>
            <p:cNvSpPr/>
            <p:nvPr/>
          </p:nvSpPr>
          <p:spPr>
            <a:xfrm rot="5400000">
              <a:off x="3657745" y="995215"/>
              <a:ext cx="704854" cy="200321"/>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2" name="Oval 41">
              <a:extLst>
                <a:ext uri="{FF2B5EF4-FFF2-40B4-BE49-F238E27FC236}">
                  <a16:creationId xmlns:a16="http://schemas.microsoft.com/office/drawing/2014/main" id="{AA8F8CA9-BF22-63EC-F9E6-1FDEE62E498D}"/>
                </a:ext>
              </a:extLst>
            </p:cNvPr>
            <p:cNvSpPr/>
            <p:nvPr/>
          </p:nvSpPr>
          <p:spPr>
            <a:xfrm>
              <a:off x="3953022" y="819150"/>
              <a:ext cx="114300" cy="1143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CC7C4F3B-04EB-DEDF-BEED-2011B52E2EDB}"/>
                </a:ext>
              </a:extLst>
            </p:cNvPr>
            <p:cNvSpPr txBox="1"/>
            <p:nvPr/>
          </p:nvSpPr>
          <p:spPr>
            <a:xfrm rot="5400000">
              <a:off x="3649996" y="1172716"/>
              <a:ext cx="735977" cy="257446"/>
            </a:xfrm>
            <a:prstGeom prst="rect">
              <a:avLst/>
            </a:prstGeom>
            <a:noFill/>
          </p:spPr>
          <p:txBody>
            <a:bodyPr wrap="square">
              <a:spAutoFit/>
            </a:bodyPr>
            <a:lstStyle/>
            <a:p>
              <a:r>
                <a:rPr lang="en-US" sz="600" dirty="0">
                  <a:solidFill>
                    <a:schemeClr val="bg1"/>
                  </a:solidFill>
                </a:rPr>
                <a:t>Power</a:t>
              </a:r>
            </a:p>
          </p:txBody>
        </p:sp>
      </p:grpSp>
      <p:grpSp>
        <p:nvGrpSpPr>
          <p:cNvPr id="44" name="Group 43">
            <a:extLst>
              <a:ext uri="{FF2B5EF4-FFF2-40B4-BE49-F238E27FC236}">
                <a16:creationId xmlns:a16="http://schemas.microsoft.com/office/drawing/2014/main" id="{75057683-31A6-6C6B-33D2-66139B0579F9}"/>
              </a:ext>
            </a:extLst>
          </p:cNvPr>
          <p:cNvGrpSpPr/>
          <p:nvPr/>
        </p:nvGrpSpPr>
        <p:grpSpPr>
          <a:xfrm rot="16200000">
            <a:off x="6356224" y="2118806"/>
            <a:ext cx="184666" cy="717475"/>
            <a:chOff x="3889262" y="742949"/>
            <a:chExt cx="257446" cy="926478"/>
          </a:xfrm>
        </p:grpSpPr>
        <p:sp>
          <p:nvSpPr>
            <p:cNvPr id="45" name="Rectangle: Rounded Corners 44">
              <a:extLst>
                <a:ext uri="{FF2B5EF4-FFF2-40B4-BE49-F238E27FC236}">
                  <a16:creationId xmlns:a16="http://schemas.microsoft.com/office/drawing/2014/main" id="{D3066397-0C95-8F74-96C5-80EF6E5BB4BB}"/>
                </a:ext>
              </a:extLst>
            </p:cNvPr>
            <p:cNvSpPr/>
            <p:nvPr/>
          </p:nvSpPr>
          <p:spPr>
            <a:xfrm rot="5400000">
              <a:off x="3657745" y="995215"/>
              <a:ext cx="704854" cy="200321"/>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46" name="Oval 45">
              <a:extLst>
                <a:ext uri="{FF2B5EF4-FFF2-40B4-BE49-F238E27FC236}">
                  <a16:creationId xmlns:a16="http://schemas.microsoft.com/office/drawing/2014/main" id="{5A25EF4F-8EBB-D6E7-0904-1550E2FE569A}"/>
                </a:ext>
              </a:extLst>
            </p:cNvPr>
            <p:cNvSpPr/>
            <p:nvPr/>
          </p:nvSpPr>
          <p:spPr>
            <a:xfrm>
              <a:off x="3953022" y="819150"/>
              <a:ext cx="114300" cy="1143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B68D7549-6181-7157-FEF7-975F3382E582}"/>
                </a:ext>
              </a:extLst>
            </p:cNvPr>
            <p:cNvSpPr txBox="1"/>
            <p:nvPr/>
          </p:nvSpPr>
          <p:spPr>
            <a:xfrm rot="5400000">
              <a:off x="3649996" y="1172716"/>
              <a:ext cx="735977" cy="257446"/>
            </a:xfrm>
            <a:prstGeom prst="rect">
              <a:avLst/>
            </a:prstGeom>
            <a:noFill/>
          </p:spPr>
          <p:txBody>
            <a:bodyPr wrap="square">
              <a:spAutoFit/>
            </a:bodyPr>
            <a:lstStyle/>
            <a:p>
              <a:r>
                <a:rPr lang="en-US" sz="600" dirty="0">
                  <a:solidFill>
                    <a:schemeClr val="bg1"/>
                  </a:solidFill>
                </a:rPr>
                <a:t>Power</a:t>
              </a:r>
            </a:p>
          </p:txBody>
        </p:sp>
      </p:grpSp>
      <p:grpSp>
        <p:nvGrpSpPr>
          <p:cNvPr id="48" name="Group 47">
            <a:extLst>
              <a:ext uri="{FF2B5EF4-FFF2-40B4-BE49-F238E27FC236}">
                <a16:creationId xmlns:a16="http://schemas.microsoft.com/office/drawing/2014/main" id="{45B2B537-FED3-813B-B303-C1643FB1B7B5}"/>
              </a:ext>
            </a:extLst>
          </p:cNvPr>
          <p:cNvGrpSpPr/>
          <p:nvPr/>
        </p:nvGrpSpPr>
        <p:grpSpPr>
          <a:xfrm rot="16200000">
            <a:off x="6356223" y="1901884"/>
            <a:ext cx="184666" cy="717473"/>
            <a:chOff x="3889261" y="742949"/>
            <a:chExt cx="257446" cy="926477"/>
          </a:xfrm>
        </p:grpSpPr>
        <p:sp>
          <p:nvSpPr>
            <p:cNvPr id="49" name="Rectangle: Rounded Corners 48">
              <a:extLst>
                <a:ext uri="{FF2B5EF4-FFF2-40B4-BE49-F238E27FC236}">
                  <a16:creationId xmlns:a16="http://schemas.microsoft.com/office/drawing/2014/main" id="{EFB40098-4E90-57CB-47B5-679D903C7F23}"/>
                </a:ext>
              </a:extLst>
            </p:cNvPr>
            <p:cNvSpPr/>
            <p:nvPr/>
          </p:nvSpPr>
          <p:spPr>
            <a:xfrm rot="5400000">
              <a:off x="3657745" y="995215"/>
              <a:ext cx="704854" cy="200321"/>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0" name="Oval 49">
              <a:extLst>
                <a:ext uri="{FF2B5EF4-FFF2-40B4-BE49-F238E27FC236}">
                  <a16:creationId xmlns:a16="http://schemas.microsoft.com/office/drawing/2014/main" id="{081FEEAC-7543-9949-EC74-3DF0C0F61F57}"/>
                </a:ext>
              </a:extLst>
            </p:cNvPr>
            <p:cNvSpPr/>
            <p:nvPr/>
          </p:nvSpPr>
          <p:spPr>
            <a:xfrm>
              <a:off x="3953022" y="819150"/>
              <a:ext cx="114300" cy="1143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B4E67FF8-F4D8-168D-00E8-FD8EF4875872}"/>
                </a:ext>
              </a:extLst>
            </p:cNvPr>
            <p:cNvSpPr txBox="1"/>
            <p:nvPr/>
          </p:nvSpPr>
          <p:spPr>
            <a:xfrm rot="5400000">
              <a:off x="3649995" y="1172715"/>
              <a:ext cx="735977" cy="257446"/>
            </a:xfrm>
            <a:prstGeom prst="rect">
              <a:avLst/>
            </a:prstGeom>
            <a:noFill/>
          </p:spPr>
          <p:txBody>
            <a:bodyPr wrap="square">
              <a:spAutoFit/>
            </a:bodyPr>
            <a:lstStyle/>
            <a:p>
              <a:r>
                <a:rPr lang="en-US" sz="600" dirty="0">
                  <a:solidFill>
                    <a:schemeClr val="bg1"/>
                  </a:solidFill>
                </a:rPr>
                <a:t>Power</a:t>
              </a:r>
            </a:p>
          </p:txBody>
        </p:sp>
      </p:grpSp>
      <p:grpSp>
        <p:nvGrpSpPr>
          <p:cNvPr id="52" name="Group 51">
            <a:extLst>
              <a:ext uri="{FF2B5EF4-FFF2-40B4-BE49-F238E27FC236}">
                <a16:creationId xmlns:a16="http://schemas.microsoft.com/office/drawing/2014/main" id="{F592C3C6-0009-D802-7AEA-DB0CADADA0BB}"/>
              </a:ext>
            </a:extLst>
          </p:cNvPr>
          <p:cNvGrpSpPr/>
          <p:nvPr/>
        </p:nvGrpSpPr>
        <p:grpSpPr>
          <a:xfrm rot="16200000">
            <a:off x="6334543" y="1657975"/>
            <a:ext cx="228028" cy="717475"/>
            <a:chOff x="3813072" y="742949"/>
            <a:chExt cx="333634" cy="926477"/>
          </a:xfrm>
        </p:grpSpPr>
        <p:sp>
          <p:nvSpPr>
            <p:cNvPr id="53" name="Rectangle: Rounded Corners 52">
              <a:extLst>
                <a:ext uri="{FF2B5EF4-FFF2-40B4-BE49-F238E27FC236}">
                  <a16:creationId xmlns:a16="http://schemas.microsoft.com/office/drawing/2014/main" id="{4BFB364E-CB2A-ECDA-4819-15F319C9AB0F}"/>
                </a:ext>
              </a:extLst>
            </p:cNvPr>
            <p:cNvSpPr/>
            <p:nvPr/>
          </p:nvSpPr>
          <p:spPr>
            <a:xfrm rot="5400000">
              <a:off x="3657745" y="995215"/>
              <a:ext cx="704854" cy="200321"/>
            </a:xfrm>
            <a:prstGeom prst="roundRect">
              <a:avLst>
                <a:gd name="adj" fmla="val 46667"/>
              </a:avLst>
            </a:prstGeom>
            <a:solidFill>
              <a:schemeClr val="bg2">
                <a:lumMod val="75000"/>
              </a:schemeClr>
            </a:solidFill>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4" name="Oval 53">
              <a:extLst>
                <a:ext uri="{FF2B5EF4-FFF2-40B4-BE49-F238E27FC236}">
                  <a16:creationId xmlns:a16="http://schemas.microsoft.com/office/drawing/2014/main" id="{A1323626-A6EF-4937-EAAE-B01E57F5F65A}"/>
                </a:ext>
              </a:extLst>
            </p:cNvPr>
            <p:cNvSpPr/>
            <p:nvPr/>
          </p:nvSpPr>
          <p:spPr>
            <a:xfrm>
              <a:off x="3953022" y="819150"/>
              <a:ext cx="114300" cy="114300"/>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E91BC717-95E9-BA96-270B-343E5A9DC5DC}"/>
                </a:ext>
              </a:extLst>
            </p:cNvPr>
            <p:cNvSpPr txBox="1"/>
            <p:nvPr/>
          </p:nvSpPr>
          <p:spPr>
            <a:xfrm rot="5400000">
              <a:off x="3611901" y="1134621"/>
              <a:ext cx="735976" cy="333634"/>
            </a:xfrm>
            <a:prstGeom prst="rect">
              <a:avLst/>
            </a:prstGeom>
            <a:noFill/>
          </p:spPr>
          <p:txBody>
            <a:bodyPr wrap="square">
              <a:spAutoFit/>
            </a:bodyPr>
            <a:lstStyle/>
            <a:p>
              <a:r>
                <a:rPr lang="en-US" sz="600" dirty="0">
                  <a:solidFill>
                    <a:schemeClr val="bg1"/>
                  </a:solidFill>
                </a:rPr>
                <a:t>Power</a:t>
              </a:r>
            </a:p>
          </p:txBody>
        </p:sp>
      </p:grpSp>
      <p:sp>
        <p:nvSpPr>
          <p:cNvPr id="56" name="Oval 55">
            <a:extLst>
              <a:ext uri="{FF2B5EF4-FFF2-40B4-BE49-F238E27FC236}">
                <a16:creationId xmlns:a16="http://schemas.microsoft.com/office/drawing/2014/main" id="{84D4B77A-96D0-813C-5778-A6184164C0CE}"/>
              </a:ext>
            </a:extLst>
          </p:cNvPr>
          <p:cNvSpPr/>
          <p:nvPr/>
        </p:nvSpPr>
        <p:spPr>
          <a:xfrm rot="16200000">
            <a:off x="7082827" y="3084018"/>
            <a:ext cx="87592" cy="8858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9" name="Picture 68">
            <a:extLst>
              <a:ext uri="{FF2B5EF4-FFF2-40B4-BE49-F238E27FC236}">
                <a16:creationId xmlns:a16="http://schemas.microsoft.com/office/drawing/2014/main" id="{11A963CE-C926-BBE1-2B35-415DAC470C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0290" y="3512953"/>
            <a:ext cx="770322" cy="250104"/>
          </a:xfrm>
          <a:prstGeom prst="rect">
            <a:avLst/>
          </a:prstGeom>
        </p:spPr>
      </p:pic>
      <p:pic>
        <p:nvPicPr>
          <p:cNvPr id="73" name="Graphic 72">
            <a:extLst>
              <a:ext uri="{FF2B5EF4-FFF2-40B4-BE49-F238E27FC236}">
                <a16:creationId xmlns:a16="http://schemas.microsoft.com/office/drawing/2014/main" id="{0E8A28E0-E6C3-0680-8D8A-D76211FCA5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7299337" y="2243955"/>
            <a:ext cx="1181098" cy="685217"/>
          </a:xfrm>
          <a:prstGeom prst="rect">
            <a:avLst/>
          </a:prstGeom>
        </p:spPr>
      </p:pic>
    </p:spTree>
    <p:extLst>
      <p:ext uri="{BB962C8B-B14F-4D97-AF65-F5344CB8AC3E}">
        <p14:creationId xmlns:p14="http://schemas.microsoft.com/office/powerpoint/2010/main" val="4020094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601BFBB-74C2-2632-5905-C810386C85CF}"/>
              </a:ext>
            </a:extLst>
          </p:cNvPr>
          <p:cNvSpPr/>
          <p:nvPr/>
        </p:nvSpPr>
        <p:spPr>
          <a:xfrm>
            <a:off x="7758545" y="116807"/>
            <a:ext cx="4310425" cy="6653448"/>
          </a:xfrm>
          <a:prstGeom prst="roundRect">
            <a:avLst>
              <a:gd name="adj" fmla="val 2461"/>
            </a:avLst>
          </a:prstGeom>
          <a:solidFill>
            <a:srgbClr val="FFFFFF">
              <a:alpha val="38039"/>
            </a:srgb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92242839-69AA-1DCC-3209-17CC4792711C}"/>
              </a:ext>
            </a:extLst>
          </p:cNvPr>
          <p:cNvSpPr/>
          <p:nvPr/>
        </p:nvSpPr>
        <p:spPr>
          <a:xfrm>
            <a:off x="-20706" y="0"/>
            <a:ext cx="762636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F590E52D-76EC-5C81-2895-85C0D1F87E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3926" y="-76397"/>
            <a:ext cx="2914141" cy="1444877"/>
          </a:xfrm>
          <a:prstGeom prst="rect">
            <a:avLst/>
          </a:prstGeom>
        </p:spPr>
      </p:pic>
      <p:pic>
        <p:nvPicPr>
          <p:cNvPr id="9" name="Picture 8">
            <a:extLst>
              <a:ext uri="{FF2B5EF4-FFF2-40B4-BE49-F238E27FC236}">
                <a16:creationId xmlns:a16="http://schemas.microsoft.com/office/drawing/2014/main" id="{1A6C57E4-C2DB-5A61-353D-7D1424DFB46E}"/>
              </a:ext>
            </a:extLst>
          </p:cNvPr>
          <p:cNvPicPr>
            <a:picLocks noChangeAspect="1"/>
          </p:cNvPicPr>
          <p:nvPr/>
        </p:nvPicPr>
        <p:blipFill>
          <a:blip r:embed="rId4"/>
          <a:stretch>
            <a:fillRect/>
          </a:stretch>
        </p:blipFill>
        <p:spPr>
          <a:xfrm>
            <a:off x="8016557" y="1195145"/>
            <a:ext cx="3982006" cy="3172268"/>
          </a:xfrm>
          <a:prstGeom prst="rect">
            <a:avLst/>
          </a:prstGeom>
        </p:spPr>
      </p:pic>
      <p:sp>
        <p:nvSpPr>
          <p:cNvPr id="11" name="TextBox 10">
            <a:extLst>
              <a:ext uri="{FF2B5EF4-FFF2-40B4-BE49-F238E27FC236}">
                <a16:creationId xmlns:a16="http://schemas.microsoft.com/office/drawing/2014/main" id="{575517B7-9AA7-1446-FAA3-0382ED66CED0}"/>
              </a:ext>
            </a:extLst>
          </p:cNvPr>
          <p:cNvSpPr txBox="1"/>
          <p:nvPr/>
        </p:nvSpPr>
        <p:spPr>
          <a:xfrm>
            <a:off x="7968628" y="4583959"/>
            <a:ext cx="4220683" cy="307777"/>
          </a:xfrm>
          <a:prstGeom prst="rect">
            <a:avLst/>
          </a:prstGeom>
          <a:noFill/>
        </p:spPr>
        <p:txBody>
          <a:bodyPr wrap="square">
            <a:spAutoFit/>
          </a:bodyPr>
          <a:lstStyle/>
          <a:p>
            <a:pPr algn="ctr"/>
            <a:r>
              <a:rPr lang="en-US" sz="1400" b="0" i="0" dirty="0">
                <a:solidFill>
                  <a:srgbClr val="495057"/>
                </a:solidFill>
                <a:effectLst/>
              </a:rPr>
              <a:t>© 2025 Crafted by AdiInfi Private Limited</a:t>
            </a:r>
            <a:endParaRPr lang="en-US" sz="1400" dirty="0"/>
          </a:p>
        </p:txBody>
      </p:sp>
      <p:sp>
        <p:nvSpPr>
          <p:cNvPr id="31" name="TextBox 30">
            <a:extLst>
              <a:ext uri="{FF2B5EF4-FFF2-40B4-BE49-F238E27FC236}">
                <a16:creationId xmlns:a16="http://schemas.microsoft.com/office/drawing/2014/main" id="{677E308A-1769-6EFB-163F-2042810F7147}"/>
              </a:ext>
            </a:extLst>
          </p:cNvPr>
          <p:cNvSpPr txBox="1"/>
          <p:nvPr/>
        </p:nvSpPr>
        <p:spPr>
          <a:xfrm>
            <a:off x="-20706" y="251940"/>
            <a:ext cx="8010040" cy="523220"/>
          </a:xfrm>
          <a:prstGeom prst="rect">
            <a:avLst/>
          </a:prstGeom>
          <a:noFill/>
          <a:ln>
            <a:noFill/>
          </a:ln>
          <a:effectLst>
            <a:outerShdw blurRad="149987" dist="250190" dir="8460000" algn="ctr">
              <a:schemeClr val="tx1">
                <a:alpha val="20000"/>
              </a:scheme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r>
              <a:rPr lang="en-US" sz="2800" dirty="0">
                <a:solidFill>
                  <a:srgbClr val="1589CB"/>
                </a:solidFill>
              </a:rPr>
              <a:t>Your Industrial IoT Cloud </a:t>
            </a:r>
            <a:r>
              <a:rPr lang="en-US" sz="2800" dirty="0">
                <a:solidFill>
                  <a:srgbClr val="CA7C42"/>
                </a:solidFill>
              </a:rPr>
              <a:t>for Smarter Operations</a:t>
            </a:r>
          </a:p>
        </p:txBody>
      </p:sp>
      <p:grpSp>
        <p:nvGrpSpPr>
          <p:cNvPr id="48" name="Group 47">
            <a:extLst>
              <a:ext uri="{FF2B5EF4-FFF2-40B4-BE49-F238E27FC236}">
                <a16:creationId xmlns:a16="http://schemas.microsoft.com/office/drawing/2014/main" id="{72D6FD86-55A9-F626-2EC9-B113DCFA2341}"/>
              </a:ext>
            </a:extLst>
          </p:cNvPr>
          <p:cNvGrpSpPr/>
          <p:nvPr/>
        </p:nvGrpSpPr>
        <p:grpSpPr>
          <a:xfrm>
            <a:off x="2310538" y="4219163"/>
            <a:ext cx="3347550" cy="2461095"/>
            <a:chOff x="2134726" y="4463972"/>
            <a:chExt cx="3347550" cy="2461095"/>
          </a:xfrm>
          <a:scene3d>
            <a:camera prst="isometricTopUp"/>
            <a:lightRig rig="contrasting" dir="t">
              <a:rot lat="0" lon="0" rev="1500000"/>
            </a:lightRig>
          </a:scene3d>
        </p:grpSpPr>
        <p:sp>
          <p:nvSpPr>
            <p:cNvPr id="37" name="TextBox 36">
              <a:extLst>
                <a:ext uri="{FF2B5EF4-FFF2-40B4-BE49-F238E27FC236}">
                  <a16:creationId xmlns:a16="http://schemas.microsoft.com/office/drawing/2014/main" id="{FF264E97-628D-17E4-F479-7E01CA7ACD75}"/>
                </a:ext>
              </a:extLst>
            </p:cNvPr>
            <p:cNvSpPr txBox="1"/>
            <p:nvPr/>
          </p:nvSpPr>
          <p:spPr>
            <a:xfrm rot="16200000">
              <a:off x="1196566" y="5402132"/>
              <a:ext cx="2461095" cy="584775"/>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3200" dirty="0">
                  <a:solidFill>
                    <a:srgbClr val="CA7C42"/>
                  </a:solidFill>
                </a:rPr>
                <a:t>IIoT</a:t>
              </a:r>
              <a:r>
                <a:rPr lang="en-US" sz="3200" dirty="0">
                  <a:solidFill>
                    <a:srgbClr val="1589CB"/>
                  </a:solidFill>
                </a:rPr>
                <a:t> Platform</a:t>
              </a:r>
            </a:p>
          </p:txBody>
        </p:sp>
        <p:sp>
          <p:nvSpPr>
            <p:cNvPr id="38" name="TextBox 37">
              <a:extLst>
                <a:ext uri="{FF2B5EF4-FFF2-40B4-BE49-F238E27FC236}">
                  <a16:creationId xmlns:a16="http://schemas.microsoft.com/office/drawing/2014/main" id="{7DB93A6D-6812-AA61-12EB-6ADCDD39434C}"/>
                </a:ext>
              </a:extLst>
            </p:cNvPr>
            <p:cNvSpPr txBox="1"/>
            <p:nvPr/>
          </p:nvSpPr>
          <p:spPr>
            <a:xfrm>
              <a:off x="2203361" y="4463972"/>
              <a:ext cx="2925255" cy="523220"/>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2800" dirty="0">
                  <a:solidFill>
                    <a:srgbClr val="CA7C42"/>
                  </a:solidFill>
                </a:rPr>
                <a:t>Cloud SCADA</a:t>
              </a:r>
            </a:p>
          </p:txBody>
        </p:sp>
        <p:sp>
          <p:nvSpPr>
            <p:cNvPr id="39" name="TextBox 38">
              <a:extLst>
                <a:ext uri="{FF2B5EF4-FFF2-40B4-BE49-F238E27FC236}">
                  <a16:creationId xmlns:a16="http://schemas.microsoft.com/office/drawing/2014/main" id="{52D8A697-7D80-1138-AE35-EA4661DB85CC}"/>
                </a:ext>
              </a:extLst>
            </p:cNvPr>
            <p:cNvSpPr txBox="1"/>
            <p:nvPr/>
          </p:nvSpPr>
          <p:spPr>
            <a:xfrm>
              <a:off x="2612169" y="4877343"/>
              <a:ext cx="1831290" cy="369332"/>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dirty="0">
                  <a:solidFill>
                    <a:srgbClr val="1589CB"/>
                  </a:solidFill>
                </a:rPr>
                <a:t>Cloud </a:t>
              </a:r>
              <a:r>
                <a:rPr lang="en-US" dirty="0">
                  <a:solidFill>
                    <a:srgbClr val="CA7C42"/>
                  </a:solidFill>
                </a:rPr>
                <a:t>HMI</a:t>
              </a:r>
            </a:p>
          </p:txBody>
        </p:sp>
        <p:sp>
          <p:nvSpPr>
            <p:cNvPr id="40" name="TextBox 39">
              <a:extLst>
                <a:ext uri="{FF2B5EF4-FFF2-40B4-BE49-F238E27FC236}">
                  <a16:creationId xmlns:a16="http://schemas.microsoft.com/office/drawing/2014/main" id="{E6BB8814-D076-59A3-EF71-95E5FB89CD9F}"/>
                </a:ext>
              </a:extLst>
            </p:cNvPr>
            <p:cNvSpPr txBox="1"/>
            <p:nvPr/>
          </p:nvSpPr>
          <p:spPr>
            <a:xfrm>
              <a:off x="2445240" y="5413884"/>
              <a:ext cx="2505588" cy="523220"/>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2800" dirty="0">
                  <a:solidFill>
                    <a:srgbClr val="1589CB"/>
                  </a:solidFill>
                </a:rPr>
                <a:t>Next </a:t>
              </a:r>
              <a:r>
                <a:rPr lang="en-US" sz="2800" dirty="0">
                  <a:solidFill>
                    <a:srgbClr val="CA7C42"/>
                  </a:solidFill>
                </a:rPr>
                <a:t>Gen</a:t>
              </a:r>
            </a:p>
          </p:txBody>
        </p:sp>
        <p:sp>
          <p:nvSpPr>
            <p:cNvPr id="41" name="TextBox 40">
              <a:extLst>
                <a:ext uri="{FF2B5EF4-FFF2-40B4-BE49-F238E27FC236}">
                  <a16:creationId xmlns:a16="http://schemas.microsoft.com/office/drawing/2014/main" id="{6FFAAE50-F549-A725-CA5C-E76D4B5176F6}"/>
                </a:ext>
              </a:extLst>
            </p:cNvPr>
            <p:cNvSpPr txBox="1"/>
            <p:nvPr/>
          </p:nvSpPr>
          <p:spPr>
            <a:xfrm>
              <a:off x="3235493" y="5197265"/>
              <a:ext cx="1916073" cy="338554"/>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1600" dirty="0">
                  <a:solidFill>
                    <a:srgbClr val="1589CB"/>
                  </a:solidFill>
                </a:rPr>
                <a:t>Industrial Revolution</a:t>
              </a:r>
            </a:p>
          </p:txBody>
        </p:sp>
        <p:sp>
          <p:nvSpPr>
            <p:cNvPr id="42" name="TextBox 41">
              <a:extLst>
                <a:ext uri="{FF2B5EF4-FFF2-40B4-BE49-F238E27FC236}">
                  <a16:creationId xmlns:a16="http://schemas.microsoft.com/office/drawing/2014/main" id="{190D9DAC-BD3F-FFDB-D8EF-29B1EB2EBAD4}"/>
                </a:ext>
              </a:extLst>
            </p:cNvPr>
            <p:cNvSpPr txBox="1"/>
            <p:nvPr/>
          </p:nvSpPr>
          <p:spPr>
            <a:xfrm>
              <a:off x="2414298" y="6441326"/>
              <a:ext cx="1423851" cy="369332"/>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dirty="0">
                  <a:solidFill>
                    <a:srgbClr val="CA7C42"/>
                  </a:solidFill>
                </a:rPr>
                <a:t>Real Time</a:t>
              </a:r>
            </a:p>
          </p:txBody>
        </p:sp>
        <p:sp>
          <p:nvSpPr>
            <p:cNvPr id="43" name="TextBox 42">
              <a:extLst>
                <a:ext uri="{FF2B5EF4-FFF2-40B4-BE49-F238E27FC236}">
                  <a16:creationId xmlns:a16="http://schemas.microsoft.com/office/drawing/2014/main" id="{1E854D4D-A811-C437-18B1-4E905E8B7ADD}"/>
                </a:ext>
              </a:extLst>
            </p:cNvPr>
            <p:cNvSpPr txBox="1"/>
            <p:nvPr/>
          </p:nvSpPr>
          <p:spPr>
            <a:xfrm>
              <a:off x="2361973" y="5238188"/>
              <a:ext cx="1184155" cy="261610"/>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1100" dirty="0">
                  <a:solidFill>
                    <a:srgbClr val="1589CB"/>
                  </a:solidFill>
                </a:rPr>
                <a:t>Analytics</a:t>
              </a:r>
            </a:p>
          </p:txBody>
        </p:sp>
        <p:sp>
          <p:nvSpPr>
            <p:cNvPr id="44" name="TextBox 43">
              <a:extLst>
                <a:ext uri="{FF2B5EF4-FFF2-40B4-BE49-F238E27FC236}">
                  <a16:creationId xmlns:a16="http://schemas.microsoft.com/office/drawing/2014/main" id="{3084F92B-A47B-F800-1ABC-D2AC70DADA69}"/>
                </a:ext>
              </a:extLst>
            </p:cNvPr>
            <p:cNvSpPr txBox="1"/>
            <p:nvPr/>
          </p:nvSpPr>
          <p:spPr>
            <a:xfrm>
              <a:off x="4062570" y="4812231"/>
              <a:ext cx="1115610" cy="369332"/>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dirty="0">
                  <a:solidFill>
                    <a:srgbClr val="CA7C42"/>
                  </a:solidFill>
                </a:rPr>
                <a:t>Reports</a:t>
              </a:r>
            </a:p>
          </p:txBody>
        </p:sp>
        <p:sp>
          <p:nvSpPr>
            <p:cNvPr id="45" name="TextBox 44">
              <a:extLst>
                <a:ext uri="{FF2B5EF4-FFF2-40B4-BE49-F238E27FC236}">
                  <a16:creationId xmlns:a16="http://schemas.microsoft.com/office/drawing/2014/main" id="{35119CD7-51CD-D37B-8BEB-FF103E4A989E}"/>
                </a:ext>
              </a:extLst>
            </p:cNvPr>
            <p:cNvSpPr txBox="1"/>
            <p:nvPr/>
          </p:nvSpPr>
          <p:spPr>
            <a:xfrm>
              <a:off x="2842833" y="5981430"/>
              <a:ext cx="2639443" cy="707886"/>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4000" dirty="0">
                  <a:solidFill>
                    <a:srgbClr val="1589CB"/>
                  </a:solidFill>
                </a:rPr>
                <a:t>Historian</a:t>
              </a:r>
            </a:p>
          </p:txBody>
        </p:sp>
        <p:sp>
          <p:nvSpPr>
            <p:cNvPr id="46" name="TextBox 45">
              <a:extLst>
                <a:ext uri="{FF2B5EF4-FFF2-40B4-BE49-F238E27FC236}">
                  <a16:creationId xmlns:a16="http://schemas.microsoft.com/office/drawing/2014/main" id="{1018C0B1-BF4F-01F6-60C2-FAD2667B982E}"/>
                </a:ext>
              </a:extLst>
            </p:cNvPr>
            <p:cNvSpPr txBox="1"/>
            <p:nvPr/>
          </p:nvSpPr>
          <p:spPr>
            <a:xfrm>
              <a:off x="2585663" y="5750598"/>
              <a:ext cx="2010707" cy="461665"/>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2400" dirty="0">
                  <a:solidFill>
                    <a:srgbClr val="CA7C42"/>
                  </a:solidFill>
                </a:rPr>
                <a:t>Trending</a:t>
              </a:r>
              <a:r>
                <a:rPr lang="en-US" sz="2400" dirty="0">
                  <a:solidFill>
                    <a:srgbClr val="1589CB"/>
                  </a:solidFill>
                </a:rPr>
                <a:t> Chart</a:t>
              </a:r>
            </a:p>
          </p:txBody>
        </p:sp>
      </p:grpSp>
      <p:pic>
        <p:nvPicPr>
          <p:cNvPr id="4" name="Picture 3">
            <a:extLst>
              <a:ext uri="{FF2B5EF4-FFF2-40B4-BE49-F238E27FC236}">
                <a16:creationId xmlns:a16="http://schemas.microsoft.com/office/drawing/2014/main" id="{CBF1DEED-9184-5AD0-9AC8-AADC691861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5961" y="1112057"/>
            <a:ext cx="6095999" cy="3338444"/>
          </a:xfrm>
          <a:prstGeom prst="rect">
            <a:avLst/>
          </a:prstGeom>
        </p:spPr>
      </p:pic>
    </p:spTree>
    <p:extLst>
      <p:ext uri="{BB962C8B-B14F-4D97-AF65-F5344CB8AC3E}">
        <p14:creationId xmlns:p14="http://schemas.microsoft.com/office/powerpoint/2010/main" val="328749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E528B-63F1-4AB9-DB34-3B83FB3B12F8}"/>
            </a:ext>
          </a:extLst>
        </p:cNvPr>
        <p:cNvGrpSpPr/>
        <p:nvPr/>
      </p:nvGrpSpPr>
      <p:grpSpPr>
        <a:xfrm>
          <a:off x="0" y="0"/>
          <a:ext cx="0" cy="0"/>
          <a:chOff x="0" y="0"/>
          <a:chExt cx="0" cy="0"/>
        </a:xfrm>
      </p:grpSpPr>
      <p:pic>
        <p:nvPicPr>
          <p:cNvPr id="22" name="Picture 21">
            <a:extLst>
              <a:ext uri="{FF2B5EF4-FFF2-40B4-BE49-F238E27FC236}">
                <a16:creationId xmlns:a16="http://schemas.microsoft.com/office/drawing/2014/main" id="{A82A08F8-A5B0-1E52-8CB5-331084F79F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7" y="0"/>
            <a:ext cx="12184544" cy="6858000"/>
          </a:xfrm>
          <a:prstGeom prst="rect">
            <a:avLst/>
          </a:prstGeom>
        </p:spPr>
      </p:pic>
      <p:sp>
        <p:nvSpPr>
          <p:cNvPr id="52" name="Rectangle: Rounded Corners 51">
            <a:extLst>
              <a:ext uri="{FF2B5EF4-FFF2-40B4-BE49-F238E27FC236}">
                <a16:creationId xmlns:a16="http://schemas.microsoft.com/office/drawing/2014/main" id="{8B7E4315-A828-21BE-0971-585352F868B4}"/>
              </a:ext>
            </a:extLst>
          </p:cNvPr>
          <p:cNvSpPr/>
          <p:nvPr/>
        </p:nvSpPr>
        <p:spPr>
          <a:xfrm>
            <a:off x="109931" y="5524103"/>
            <a:ext cx="7858697" cy="1240160"/>
          </a:xfrm>
          <a:prstGeom prst="roundRect">
            <a:avLst>
              <a:gd name="adj" fmla="val 2461"/>
            </a:avLst>
          </a:prstGeom>
          <a:solidFill>
            <a:schemeClr val="bg1">
              <a:alpha val="32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76645F9B-5BEC-C9E6-D735-4F51A65FD27F}"/>
              </a:ext>
            </a:extLst>
          </p:cNvPr>
          <p:cNvSpPr/>
          <p:nvPr/>
        </p:nvSpPr>
        <p:spPr>
          <a:xfrm>
            <a:off x="8262675" y="0"/>
            <a:ext cx="3954616" cy="6857999"/>
          </a:xfrm>
          <a:prstGeom prst="roundRect">
            <a:avLst>
              <a:gd name="adj" fmla="val 0"/>
            </a:avLst>
          </a:prstGeom>
          <a:solidFill>
            <a:srgbClr val="FFFFFF"/>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55D0507B-92D0-6218-AA4B-2BC93966B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41195" y="-69485"/>
            <a:ext cx="2914141" cy="1444877"/>
          </a:xfrm>
          <a:prstGeom prst="rect">
            <a:avLst/>
          </a:prstGeom>
        </p:spPr>
      </p:pic>
      <p:pic>
        <p:nvPicPr>
          <p:cNvPr id="9" name="Picture 8">
            <a:extLst>
              <a:ext uri="{FF2B5EF4-FFF2-40B4-BE49-F238E27FC236}">
                <a16:creationId xmlns:a16="http://schemas.microsoft.com/office/drawing/2014/main" id="{F1879FA7-005A-6713-C6DA-DA23C11C40C9}"/>
              </a:ext>
            </a:extLst>
          </p:cNvPr>
          <p:cNvPicPr>
            <a:picLocks noChangeAspect="1"/>
          </p:cNvPicPr>
          <p:nvPr/>
        </p:nvPicPr>
        <p:blipFill>
          <a:blip r:embed="rId5"/>
          <a:stretch>
            <a:fillRect/>
          </a:stretch>
        </p:blipFill>
        <p:spPr>
          <a:xfrm>
            <a:off x="8292247" y="1375392"/>
            <a:ext cx="3823561" cy="3046043"/>
          </a:xfrm>
          <a:prstGeom prst="rect">
            <a:avLst/>
          </a:prstGeom>
        </p:spPr>
      </p:pic>
      <p:sp>
        <p:nvSpPr>
          <p:cNvPr id="11" name="TextBox 10">
            <a:extLst>
              <a:ext uri="{FF2B5EF4-FFF2-40B4-BE49-F238E27FC236}">
                <a16:creationId xmlns:a16="http://schemas.microsoft.com/office/drawing/2014/main" id="{A90021DF-52AF-D35B-9D9E-5C1C9EECA55E}"/>
              </a:ext>
            </a:extLst>
          </p:cNvPr>
          <p:cNvSpPr txBox="1"/>
          <p:nvPr/>
        </p:nvSpPr>
        <p:spPr>
          <a:xfrm>
            <a:off x="7968628" y="4583959"/>
            <a:ext cx="4220683" cy="307777"/>
          </a:xfrm>
          <a:prstGeom prst="rect">
            <a:avLst/>
          </a:prstGeom>
          <a:noFill/>
        </p:spPr>
        <p:txBody>
          <a:bodyPr wrap="square">
            <a:spAutoFit/>
          </a:bodyPr>
          <a:lstStyle/>
          <a:p>
            <a:pPr algn="ctr"/>
            <a:r>
              <a:rPr lang="en-US" sz="1400" b="0" i="0" dirty="0">
                <a:solidFill>
                  <a:srgbClr val="495057"/>
                </a:solidFill>
                <a:effectLst/>
              </a:rPr>
              <a:t>© 2025 Crafted by AdiInfi Private Limited</a:t>
            </a:r>
            <a:endParaRPr lang="en-US" sz="1400" dirty="0"/>
          </a:p>
        </p:txBody>
      </p:sp>
      <p:sp>
        <p:nvSpPr>
          <p:cNvPr id="31" name="TextBox 30">
            <a:extLst>
              <a:ext uri="{FF2B5EF4-FFF2-40B4-BE49-F238E27FC236}">
                <a16:creationId xmlns:a16="http://schemas.microsoft.com/office/drawing/2014/main" id="{3A753A3A-6390-D079-BD53-0F5C20EC8393}"/>
              </a:ext>
            </a:extLst>
          </p:cNvPr>
          <p:cNvSpPr txBox="1"/>
          <p:nvPr/>
        </p:nvSpPr>
        <p:spPr>
          <a:xfrm>
            <a:off x="122814" y="1649824"/>
            <a:ext cx="7920056" cy="369332"/>
          </a:xfrm>
          <a:prstGeom prst="rect">
            <a:avLst/>
          </a:prstGeom>
          <a:noFill/>
          <a:ln>
            <a:noFill/>
          </a:ln>
          <a:effectLst>
            <a:outerShdw blurRad="149987" dist="250190" dir="8460000" algn="ctr">
              <a:schemeClr val="tx1">
                <a:alpha val="20000"/>
              </a:scheme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r>
              <a:rPr lang="en-US" dirty="0">
                <a:solidFill>
                  <a:srgbClr val="1589CB"/>
                </a:solidFill>
              </a:rPr>
              <a:t>Your Industrial IoT Cloud </a:t>
            </a:r>
            <a:r>
              <a:rPr lang="en-US" dirty="0">
                <a:solidFill>
                  <a:srgbClr val="CA7C42"/>
                </a:solidFill>
              </a:rPr>
              <a:t>for Smarter Operations</a:t>
            </a:r>
          </a:p>
        </p:txBody>
      </p:sp>
      <p:sp>
        <p:nvSpPr>
          <p:cNvPr id="18" name="TextBox 17">
            <a:extLst>
              <a:ext uri="{FF2B5EF4-FFF2-40B4-BE49-F238E27FC236}">
                <a16:creationId xmlns:a16="http://schemas.microsoft.com/office/drawing/2014/main" id="{A38F7FB7-9430-81EF-B356-D4E68FB15482}"/>
              </a:ext>
            </a:extLst>
          </p:cNvPr>
          <p:cNvSpPr txBox="1"/>
          <p:nvPr/>
        </p:nvSpPr>
        <p:spPr>
          <a:xfrm>
            <a:off x="2100760" y="221712"/>
            <a:ext cx="3703781" cy="1200329"/>
          </a:xfrm>
          <a:prstGeom prst="rect">
            <a:avLst/>
          </a:prstGeom>
          <a:noFill/>
        </p:spPr>
        <p:txBody>
          <a:bodyPr wrap="square">
            <a:spAutoFit/>
          </a:bodyPr>
          <a:lstStyle>
            <a:defPPr>
              <a:defRPr lang="en-US"/>
            </a:defPPr>
            <a:lvl1pPr algn="ctr">
              <a:defRPr sz="2800">
                <a:solidFill>
                  <a:schemeClr val="tx1">
                    <a:lumMod val="65000"/>
                    <a:lumOff val="35000"/>
                  </a:schemeClr>
                </a:solidFill>
              </a:defRPr>
            </a:lvl1pPr>
          </a:lstStyle>
          <a:p>
            <a:r>
              <a:rPr lang="en-US" sz="3600" dirty="0"/>
              <a:t>Market Leader </a:t>
            </a:r>
            <a:endParaRPr lang="en-US" sz="4400" dirty="0"/>
          </a:p>
          <a:p>
            <a:r>
              <a:rPr lang="en-US" dirty="0"/>
              <a:t>IIOT </a:t>
            </a:r>
            <a:r>
              <a:rPr lang="en-US" sz="3600" b="1" dirty="0"/>
              <a:t>Platform</a:t>
            </a:r>
            <a:endParaRPr lang="en-US" b="1" dirty="0"/>
          </a:p>
        </p:txBody>
      </p:sp>
      <p:sp>
        <p:nvSpPr>
          <p:cNvPr id="19" name="TextBox 18">
            <a:extLst>
              <a:ext uri="{FF2B5EF4-FFF2-40B4-BE49-F238E27FC236}">
                <a16:creationId xmlns:a16="http://schemas.microsoft.com/office/drawing/2014/main" id="{FC5C2BE8-9DBF-D79C-5EDB-F8DE5B3C5507}"/>
              </a:ext>
            </a:extLst>
          </p:cNvPr>
          <p:cNvSpPr txBox="1"/>
          <p:nvPr/>
        </p:nvSpPr>
        <p:spPr>
          <a:xfrm>
            <a:off x="137911" y="855577"/>
            <a:ext cx="2257631" cy="523220"/>
          </a:xfrm>
          <a:prstGeom prst="rect">
            <a:avLst/>
          </a:prstGeom>
          <a:noFill/>
        </p:spPr>
        <p:txBody>
          <a:bodyPr wrap="square">
            <a:spAutoFit/>
          </a:bodyPr>
          <a:lstStyle/>
          <a:p>
            <a:pPr algn="ctr"/>
            <a:r>
              <a:rPr lang="en-US" sz="2800" dirty="0">
                <a:solidFill>
                  <a:schemeClr val="tx1">
                    <a:lumMod val="65000"/>
                    <a:lumOff val="35000"/>
                  </a:schemeClr>
                </a:solidFill>
              </a:rPr>
              <a:t>Cloud </a:t>
            </a:r>
            <a:r>
              <a:rPr lang="en-US" sz="2800" b="1" dirty="0">
                <a:solidFill>
                  <a:schemeClr val="tx1">
                    <a:lumMod val="65000"/>
                    <a:lumOff val="35000"/>
                  </a:schemeClr>
                </a:solidFill>
              </a:rPr>
              <a:t>HMI</a:t>
            </a:r>
          </a:p>
        </p:txBody>
      </p:sp>
      <p:sp>
        <p:nvSpPr>
          <p:cNvPr id="20" name="TextBox 19">
            <a:extLst>
              <a:ext uri="{FF2B5EF4-FFF2-40B4-BE49-F238E27FC236}">
                <a16:creationId xmlns:a16="http://schemas.microsoft.com/office/drawing/2014/main" id="{522C5B1A-6E6C-AA0C-2FD0-331FD56C3C29}"/>
              </a:ext>
            </a:extLst>
          </p:cNvPr>
          <p:cNvSpPr txBox="1"/>
          <p:nvPr/>
        </p:nvSpPr>
        <p:spPr>
          <a:xfrm>
            <a:off x="5509759" y="855577"/>
            <a:ext cx="2257631" cy="523220"/>
          </a:xfrm>
          <a:prstGeom prst="rect">
            <a:avLst/>
          </a:prstGeom>
          <a:noFill/>
        </p:spPr>
        <p:txBody>
          <a:bodyPr wrap="square">
            <a:spAutoFit/>
          </a:bodyPr>
          <a:lstStyle>
            <a:defPPr>
              <a:defRPr lang="en-US"/>
            </a:defPPr>
            <a:lvl1pPr algn="ctr">
              <a:defRPr sz="2800">
                <a:solidFill>
                  <a:schemeClr val="tx1">
                    <a:lumMod val="65000"/>
                    <a:lumOff val="35000"/>
                  </a:schemeClr>
                </a:solidFill>
              </a:defRPr>
            </a:lvl1pPr>
          </a:lstStyle>
          <a:p>
            <a:r>
              <a:rPr lang="en-US" dirty="0"/>
              <a:t>Cloud </a:t>
            </a:r>
            <a:r>
              <a:rPr lang="en-US" b="1" dirty="0"/>
              <a:t>SCADA</a:t>
            </a:r>
          </a:p>
        </p:txBody>
      </p:sp>
      <p:sp>
        <p:nvSpPr>
          <p:cNvPr id="21" name="TextBox 20">
            <a:extLst>
              <a:ext uri="{FF2B5EF4-FFF2-40B4-BE49-F238E27FC236}">
                <a16:creationId xmlns:a16="http://schemas.microsoft.com/office/drawing/2014/main" id="{5B4584A3-1CF9-7C92-8B97-2905F6F85245}"/>
              </a:ext>
            </a:extLst>
          </p:cNvPr>
          <p:cNvSpPr txBox="1"/>
          <p:nvPr/>
        </p:nvSpPr>
        <p:spPr>
          <a:xfrm>
            <a:off x="6683245" y="68162"/>
            <a:ext cx="1330053" cy="246221"/>
          </a:xfrm>
          <a:prstGeom prst="rect">
            <a:avLst/>
          </a:prstGeom>
          <a:noFill/>
        </p:spPr>
        <p:txBody>
          <a:bodyPr wrap="square">
            <a:spAutoFit/>
          </a:bodyPr>
          <a:lstStyle>
            <a:defPPr>
              <a:defRPr lang="en-US"/>
            </a:defPPr>
            <a:lvl1pPr algn="ctr">
              <a:defRPr sz="2800">
                <a:solidFill>
                  <a:schemeClr val="tx1">
                    <a:lumMod val="65000"/>
                    <a:lumOff val="35000"/>
                  </a:schemeClr>
                </a:solidFill>
              </a:defRPr>
            </a:lvl1pPr>
          </a:lstStyle>
          <a:p>
            <a:pPr algn="r"/>
            <a:r>
              <a:rPr lang="en-US" sz="1000" dirty="0"/>
              <a:t>Made In India</a:t>
            </a:r>
          </a:p>
        </p:txBody>
      </p:sp>
      <p:pic>
        <p:nvPicPr>
          <p:cNvPr id="27" name="Picture 26">
            <a:extLst>
              <a:ext uri="{FF2B5EF4-FFF2-40B4-BE49-F238E27FC236}">
                <a16:creationId xmlns:a16="http://schemas.microsoft.com/office/drawing/2014/main" id="{F4C88716-A4E6-FBBA-3902-637597ED18C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1585" y="2350691"/>
            <a:ext cx="6658285" cy="2981544"/>
          </a:xfrm>
          <a:prstGeom prst="rect">
            <a:avLst/>
          </a:prstGeom>
        </p:spPr>
      </p:pic>
      <p:pic>
        <p:nvPicPr>
          <p:cNvPr id="30" name="Picture 29">
            <a:extLst>
              <a:ext uri="{FF2B5EF4-FFF2-40B4-BE49-F238E27FC236}">
                <a16:creationId xmlns:a16="http://schemas.microsoft.com/office/drawing/2014/main" id="{E4E36B3A-F675-23F6-EE98-B2ED25D66B0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2813" y="5528043"/>
            <a:ext cx="1143575" cy="639215"/>
          </a:xfrm>
          <a:prstGeom prst="rect">
            <a:avLst/>
          </a:prstGeom>
        </p:spPr>
      </p:pic>
      <p:pic>
        <p:nvPicPr>
          <p:cNvPr id="35" name="Picture 34">
            <a:extLst>
              <a:ext uri="{FF2B5EF4-FFF2-40B4-BE49-F238E27FC236}">
                <a16:creationId xmlns:a16="http://schemas.microsoft.com/office/drawing/2014/main" id="{4D94131F-FDEC-2447-C783-7AB85A66C58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46371" y="5441714"/>
            <a:ext cx="1221327" cy="707055"/>
          </a:xfrm>
          <a:prstGeom prst="rect">
            <a:avLst/>
          </a:prstGeom>
        </p:spPr>
      </p:pic>
      <p:sp>
        <p:nvSpPr>
          <p:cNvPr id="36" name="TextBox 35">
            <a:extLst>
              <a:ext uri="{FF2B5EF4-FFF2-40B4-BE49-F238E27FC236}">
                <a16:creationId xmlns:a16="http://schemas.microsoft.com/office/drawing/2014/main" id="{60F74821-6E31-AB20-2579-CFCB1D69A38F}"/>
              </a:ext>
            </a:extLst>
          </p:cNvPr>
          <p:cNvSpPr txBox="1"/>
          <p:nvPr/>
        </p:nvSpPr>
        <p:spPr>
          <a:xfrm>
            <a:off x="4046370" y="5978478"/>
            <a:ext cx="3705921" cy="784830"/>
          </a:xfrm>
          <a:prstGeom prst="rect">
            <a:avLst/>
          </a:prstGeom>
          <a:noFill/>
        </p:spPr>
        <p:txBody>
          <a:bodyPr wrap="square">
            <a:spAutoFit/>
          </a:bodyPr>
          <a:lstStyle>
            <a:defPPr>
              <a:defRPr lang="en-US"/>
            </a:defPPr>
            <a:lvl1pPr algn="ctr">
              <a:defRPr sz="2800">
                <a:solidFill>
                  <a:schemeClr val="tx1">
                    <a:lumMod val="65000"/>
                    <a:lumOff val="35000"/>
                  </a:schemeClr>
                </a:solidFill>
              </a:defRPr>
            </a:lvl1pPr>
          </a:lstStyle>
          <a:p>
            <a:pPr algn="just"/>
            <a:r>
              <a:rPr lang="en-US" sz="900" b="1" dirty="0" err="1"/>
              <a:t>AdiNexus</a:t>
            </a:r>
            <a:r>
              <a:rPr lang="en-US" sz="900" dirty="0"/>
              <a:t> is a next-generation IoT gateway engineered to seamlessly connect machines, sensors, and enterprise systems into one intelligent network. Designed for reliability and scalability, it bridges the gap between field devices enabling secure data exchange, edge intelligence, and real-time decision-making. </a:t>
            </a:r>
            <a:r>
              <a:rPr lang="en-US" sz="900" b="1" dirty="0"/>
              <a:t> Read More…</a:t>
            </a:r>
          </a:p>
        </p:txBody>
      </p:sp>
      <p:sp>
        <p:nvSpPr>
          <p:cNvPr id="49" name="TextBox 48">
            <a:extLst>
              <a:ext uri="{FF2B5EF4-FFF2-40B4-BE49-F238E27FC236}">
                <a16:creationId xmlns:a16="http://schemas.microsoft.com/office/drawing/2014/main" id="{CCB421C9-4D27-3CF3-65DD-AF3EE9C53CF0}"/>
              </a:ext>
            </a:extLst>
          </p:cNvPr>
          <p:cNvSpPr txBox="1"/>
          <p:nvPr/>
        </p:nvSpPr>
        <p:spPr>
          <a:xfrm>
            <a:off x="137911" y="5989206"/>
            <a:ext cx="3705920" cy="784830"/>
          </a:xfrm>
          <a:prstGeom prst="rect">
            <a:avLst/>
          </a:prstGeom>
          <a:noFill/>
        </p:spPr>
        <p:txBody>
          <a:bodyPr wrap="square">
            <a:spAutoFit/>
          </a:bodyPr>
          <a:lstStyle>
            <a:defPPr>
              <a:defRPr lang="en-US"/>
            </a:defPPr>
            <a:lvl1pPr algn="ctr">
              <a:defRPr sz="2800">
                <a:solidFill>
                  <a:schemeClr val="tx1">
                    <a:lumMod val="65000"/>
                    <a:lumOff val="35000"/>
                  </a:schemeClr>
                </a:solidFill>
              </a:defRPr>
            </a:lvl1pPr>
          </a:lstStyle>
          <a:p>
            <a:pPr algn="just"/>
            <a:r>
              <a:rPr lang="en-US" sz="900" b="1" dirty="0" err="1"/>
              <a:t>Adilogix</a:t>
            </a:r>
            <a:r>
              <a:rPr lang="en-US" sz="900" dirty="0"/>
              <a:t> is a modern SCADA platform designed for real-time control, intelligent monitoring, and seamless automation across industrial environments. </a:t>
            </a:r>
            <a:r>
              <a:rPr lang="en-US" sz="900" b="1" dirty="0"/>
              <a:t>Built in India for the world</a:t>
            </a:r>
            <a:r>
              <a:rPr lang="en-US" sz="900" dirty="0"/>
              <a:t>, it offers flexibility, performance, and ease of use—empowering teams to build, scale, and optimize operations with confidence.  </a:t>
            </a:r>
            <a:r>
              <a:rPr lang="en-US" sz="900" b="1" i="1" dirty="0"/>
              <a:t>Read More…</a:t>
            </a:r>
          </a:p>
        </p:txBody>
      </p:sp>
      <p:pic>
        <p:nvPicPr>
          <p:cNvPr id="50" name="Picture 49">
            <a:extLst>
              <a:ext uri="{FF2B5EF4-FFF2-40B4-BE49-F238E27FC236}">
                <a16:creationId xmlns:a16="http://schemas.microsoft.com/office/drawing/2014/main" id="{338608E8-5C7E-B2C0-E81C-65F54248844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22814" y="144717"/>
            <a:ext cx="1045141" cy="339332"/>
          </a:xfrm>
          <a:prstGeom prst="rect">
            <a:avLst/>
          </a:prstGeom>
        </p:spPr>
      </p:pic>
    </p:spTree>
    <p:extLst>
      <p:ext uri="{BB962C8B-B14F-4D97-AF65-F5344CB8AC3E}">
        <p14:creationId xmlns:p14="http://schemas.microsoft.com/office/powerpoint/2010/main" val="2618201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811A0-C7B7-70EE-3A2D-01B58E0BB62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610892-874F-FE28-555B-93438E84181C}"/>
              </a:ext>
            </a:extLst>
          </p:cNvPr>
          <p:cNvSpPr/>
          <p:nvPr/>
        </p:nvSpPr>
        <p:spPr>
          <a:xfrm>
            <a:off x="-20706" y="0"/>
            <a:ext cx="7968628" cy="68580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2CEA6FEE-0DD9-84F5-E8E5-51E5BA0A6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12" y="0"/>
            <a:ext cx="7968628" cy="6858000"/>
          </a:xfrm>
          <a:prstGeom prst="rect">
            <a:avLst/>
          </a:prstGeom>
        </p:spPr>
      </p:pic>
      <p:pic>
        <p:nvPicPr>
          <p:cNvPr id="17" name="Picture 16">
            <a:extLst>
              <a:ext uri="{FF2B5EF4-FFF2-40B4-BE49-F238E27FC236}">
                <a16:creationId xmlns:a16="http://schemas.microsoft.com/office/drawing/2014/main" id="{F835E89A-0595-0B75-7ED4-B004D2C40E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0242" y="508825"/>
            <a:ext cx="4528143" cy="4528143"/>
          </a:xfrm>
          <a:prstGeom prst="rect">
            <a:avLst/>
          </a:prstGeom>
        </p:spPr>
      </p:pic>
      <p:pic>
        <p:nvPicPr>
          <p:cNvPr id="7" name="Picture 6">
            <a:extLst>
              <a:ext uri="{FF2B5EF4-FFF2-40B4-BE49-F238E27FC236}">
                <a16:creationId xmlns:a16="http://schemas.microsoft.com/office/drawing/2014/main" id="{17F5FFD5-700B-3468-AB9D-2F5F480483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3926" y="-76397"/>
            <a:ext cx="2914141" cy="1444877"/>
          </a:xfrm>
          <a:prstGeom prst="rect">
            <a:avLst/>
          </a:prstGeom>
        </p:spPr>
      </p:pic>
      <p:pic>
        <p:nvPicPr>
          <p:cNvPr id="9" name="Picture 8">
            <a:extLst>
              <a:ext uri="{FF2B5EF4-FFF2-40B4-BE49-F238E27FC236}">
                <a16:creationId xmlns:a16="http://schemas.microsoft.com/office/drawing/2014/main" id="{5D915CB2-CC23-2170-DD23-64A6A35385FD}"/>
              </a:ext>
            </a:extLst>
          </p:cNvPr>
          <p:cNvPicPr>
            <a:picLocks noChangeAspect="1"/>
          </p:cNvPicPr>
          <p:nvPr/>
        </p:nvPicPr>
        <p:blipFill>
          <a:blip r:embed="rId6"/>
          <a:stretch>
            <a:fillRect/>
          </a:stretch>
        </p:blipFill>
        <p:spPr>
          <a:xfrm>
            <a:off x="8087967" y="1236579"/>
            <a:ext cx="3982006" cy="3172268"/>
          </a:xfrm>
          <a:prstGeom prst="rect">
            <a:avLst/>
          </a:prstGeom>
        </p:spPr>
      </p:pic>
      <p:sp>
        <p:nvSpPr>
          <p:cNvPr id="11" name="TextBox 10">
            <a:extLst>
              <a:ext uri="{FF2B5EF4-FFF2-40B4-BE49-F238E27FC236}">
                <a16:creationId xmlns:a16="http://schemas.microsoft.com/office/drawing/2014/main" id="{8D5D8162-13AD-924A-6D8D-E292E520C4EB}"/>
              </a:ext>
            </a:extLst>
          </p:cNvPr>
          <p:cNvSpPr txBox="1"/>
          <p:nvPr/>
        </p:nvSpPr>
        <p:spPr>
          <a:xfrm>
            <a:off x="7968628" y="4583959"/>
            <a:ext cx="4220683" cy="307777"/>
          </a:xfrm>
          <a:prstGeom prst="rect">
            <a:avLst/>
          </a:prstGeom>
          <a:noFill/>
        </p:spPr>
        <p:txBody>
          <a:bodyPr wrap="square">
            <a:spAutoFit/>
          </a:bodyPr>
          <a:lstStyle/>
          <a:p>
            <a:pPr algn="ctr"/>
            <a:r>
              <a:rPr lang="en-US" sz="1400" b="0" i="0" dirty="0">
                <a:solidFill>
                  <a:srgbClr val="495057"/>
                </a:solidFill>
                <a:effectLst/>
              </a:rPr>
              <a:t>© 2025 Crafted by AdiInfi Private Limited</a:t>
            </a:r>
            <a:endParaRPr lang="en-US" sz="1400" dirty="0"/>
          </a:p>
        </p:txBody>
      </p:sp>
      <p:sp>
        <p:nvSpPr>
          <p:cNvPr id="31" name="TextBox 30">
            <a:extLst>
              <a:ext uri="{FF2B5EF4-FFF2-40B4-BE49-F238E27FC236}">
                <a16:creationId xmlns:a16="http://schemas.microsoft.com/office/drawing/2014/main" id="{46123C9E-119F-442B-40F5-CCC1ED6A9293}"/>
              </a:ext>
            </a:extLst>
          </p:cNvPr>
          <p:cNvSpPr txBox="1"/>
          <p:nvPr/>
        </p:nvSpPr>
        <p:spPr>
          <a:xfrm>
            <a:off x="-20706" y="251940"/>
            <a:ext cx="8010040" cy="523220"/>
          </a:xfrm>
          <a:prstGeom prst="rect">
            <a:avLst/>
          </a:prstGeom>
          <a:noFill/>
          <a:ln>
            <a:noFill/>
          </a:ln>
          <a:effectLst>
            <a:outerShdw blurRad="149987" dist="250190" dir="8460000" algn="ctr">
              <a:schemeClr val="tx1">
                <a:alpha val="20000"/>
              </a:scheme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r>
              <a:rPr lang="en-US" sz="2800" dirty="0">
                <a:solidFill>
                  <a:srgbClr val="1589CB"/>
                </a:solidFill>
              </a:rPr>
              <a:t>Your Industrial IoT Cloud </a:t>
            </a:r>
            <a:r>
              <a:rPr lang="en-US" sz="2800" dirty="0">
                <a:solidFill>
                  <a:srgbClr val="CA7C42"/>
                </a:solidFill>
              </a:rPr>
              <a:t>for Smarter Operations</a:t>
            </a:r>
          </a:p>
        </p:txBody>
      </p:sp>
      <p:grpSp>
        <p:nvGrpSpPr>
          <p:cNvPr id="48" name="Group 47">
            <a:extLst>
              <a:ext uri="{FF2B5EF4-FFF2-40B4-BE49-F238E27FC236}">
                <a16:creationId xmlns:a16="http://schemas.microsoft.com/office/drawing/2014/main" id="{61286696-5290-0F79-392C-91F1C75DDEFE}"/>
              </a:ext>
            </a:extLst>
          </p:cNvPr>
          <p:cNvGrpSpPr/>
          <p:nvPr/>
        </p:nvGrpSpPr>
        <p:grpSpPr>
          <a:xfrm>
            <a:off x="2310538" y="4219163"/>
            <a:ext cx="3347550" cy="2461095"/>
            <a:chOff x="2134726" y="4463972"/>
            <a:chExt cx="3347550" cy="2461095"/>
          </a:xfrm>
          <a:scene3d>
            <a:camera prst="isometricTopUp"/>
            <a:lightRig rig="contrasting" dir="t">
              <a:rot lat="0" lon="0" rev="1500000"/>
            </a:lightRig>
          </a:scene3d>
        </p:grpSpPr>
        <p:sp>
          <p:nvSpPr>
            <p:cNvPr id="37" name="TextBox 36">
              <a:extLst>
                <a:ext uri="{FF2B5EF4-FFF2-40B4-BE49-F238E27FC236}">
                  <a16:creationId xmlns:a16="http://schemas.microsoft.com/office/drawing/2014/main" id="{5AEF8B28-E504-7FFC-4F25-3F3F335A3F1B}"/>
                </a:ext>
              </a:extLst>
            </p:cNvPr>
            <p:cNvSpPr txBox="1"/>
            <p:nvPr/>
          </p:nvSpPr>
          <p:spPr>
            <a:xfrm rot="16200000">
              <a:off x="1196566" y="5402132"/>
              <a:ext cx="2461095" cy="584775"/>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3200" dirty="0">
                  <a:solidFill>
                    <a:srgbClr val="CA7C42"/>
                  </a:solidFill>
                </a:rPr>
                <a:t>IIoT</a:t>
              </a:r>
              <a:r>
                <a:rPr lang="en-US" sz="3200" dirty="0">
                  <a:solidFill>
                    <a:srgbClr val="1589CB"/>
                  </a:solidFill>
                </a:rPr>
                <a:t> Platform</a:t>
              </a:r>
            </a:p>
          </p:txBody>
        </p:sp>
        <p:sp>
          <p:nvSpPr>
            <p:cNvPr id="38" name="TextBox 37">
              <a:extLst>
                <a:ext uri="{FF2B5EF4-FFF2-40B4-BE49-F238E27FC236}">
                  <a16:creationId xmlns:a16="http://schemas.microsoft.com/office/drawing/2014/main" id="{827A8003-A1A7-C54E-504B-6C91B638C68E}"/>
                </a:ext>
              </a:extLst>
            </p:cNvPr>
            <p:cNvSpPr txBox="1"/>
            <p:nvPr/>
          </p:nvSpPr>
          <p:spPr>
            <a:xfrm>
              <a:off x="2203361" y="4463972"/>
              <a:ext cx="2925255" cy="523220"/>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2800" dirty="0">
                  <a:solidFill>
                    <a:srgbClr val="CA7C42"/>
                  </a:solidFill>
                </a:rPr>
                <a:t>Cloud SCADA</a:t>
              </a:r>
            </a:p>
          </p:txBody>
        </p:sp>
        <p:sp>
          <p:nvSpPr>
            <p:cNvPr id="39" name="TextBox 38">
              <a:extLst>
                <a:ext uri="{FF2B5EF4-FFF2-40B4-BE49-F238E27FC236}">
                  <a16:creationId xmlns:a16="http://schemas.microsoft.com/office/drawing/2014/main" id="{5CA9E507-C0CC-5010-3D0E-9F23AFBD2F53}"/>
                </a:ext>
              </a:extLst>
            </p:cNvPr>
            <p:cNvSpPr txBox="1"/>
            <p:nvPr/>
          </p:nvSpPr>
          <p:spPr>
            <a:xfrm>
              <a:off x="2612169" y="4877343"/>
              <a:ext cx="1831290" cy="369332"/>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dirty="0">
                  <a:solidFill>
                    <a:srgbClr val="1589CB"/>
                  </a:solidFill>
                </a:rPr>
                <a:t>Cloud </a:t>
              </a:r>
              <a:r>
                <a:rPr lang="en-US" dirty="0">
                  <a:solidFill>
                    <a:srgbClr val="CA7C42"/>
                  </a:solidFill>
                </a:rPr>
                <a:t>HMI</a:t>
              </a:r>
            </a:p>
          </p:txBody>
        </p:sp>
        <p:sp>
          <p:nvSpPr>
            <p:cNvPr id="40" name="TextBox 39">
              <a:extLst>
                <a:ext uri="{FF2B5EF4-FFF2-40B4-BE49-F238E27FC236}">
                  <a16:creationId xmlns:a16="http://schemas.microsoft.com/office/drawing/2014/main" id="{39BAAA23-699E-BADE-00A8-C3B3527B90C2}"/>
                </a:ext>
              </a:extLst>
            </p:cNvPr>
            <p:cNvSpPr txBox="1"/>
            <p:nvPr/>
          </p:nvSpPr>
          <p:spPr>
            <a:xfrm>
              <a:off x="2445240" y="5413884"/>
              <a:ext cx="2505588" cy="523220"/>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2800" dirty="0">
                  <a:solidFill>
                    <a:srgbClr val="1589CB"/>
                  </a:solidFill>
                </a:rPr>
                <a:t>Next </a:t>
              </a:r>
              <a:r>
                <a:rPr lang="en-US" sz="2800" dirty="0">
                  <a:solidFill>
                    <a:srgbClr val="CA7C42"/>
                  </a:solidFill>
                </a:rPr>
                <a:t>Gen</a:t>
              </a:r>
            </a:p>
          </p:txBody>
        </p:sp>
        <p:sp>
          <p:nvSpPr>
            <p:cNvPr id="41" name="TextBox 40">
              <a:extLst>
                <a:ext uri="{FF2B5EF4-FFF2-40B4-BE49-F238E27FC236}">
                  <a16:creationId xmlns:a16="http://schemas.microsoft.com/office/drawing/2014/main" id="{5330471B-BA39-1100-8918-575CD35E550D}"/>
                </a:ext>
              </a:extLst>
            </p:cNvPr>
            <p:cNvSpPr txBox="1"/>
            <p:nvPr/>
          </p:nvSpPr>
          <p:spPr>
            <a:xfrm>
              <a:off x="3235493" y="5197265"/>
              <a:ext cx="1916073" cy="338554"/>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1600" dirty="0">
                  <a:solidFill>
                    <a:srgbClr val="1589CB"/>
                  </a:solidFill>
                </a:rPr>
                <a:t>Industrial Revolution</a:t>
              </a:r>
            </a:p>
          </p:txBody>
        </p:sp>
        <p:sp>
          <p:nvSpPr>
            <p:cNvPr id="42" name="TextBox 41">
              <a:extLst>
                <a:ext uri="{FF2B5EF4-FFF2-40B4-BE49-F238E27FC236}">
                  <a16:creationId xmlns:a16="http://schemas.microsoft.com/office/drawing/2014/main" id="{45088C46-DCF5-4A46-9764-BBC122A2F0C0}"/>
                </a:ext>
              </a:extLst>
            </p:cNvPr>
            <p:cNvSpPr txBox="1"/>
            <p:nvPr/>
          </p:nvSpPr>
          <p:spPr>
            <a:xfrm>
              <a:off x="2414298" y="6441326"/>
              <a:ext cx="1423851" cy="369332"/>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dirty="0">
                  <a:solidFill>
                    <a:srgbClr val="CA7C42"/>
                  </a:solidFill>
                </a:rPr>
                <a:t>Real Time</a:t>
              </a:r>
            </a:p>
          </p:txBody>
        </p:sp>
        <p:sp>
          <p:nvSpPr>
            <p:cNvPr id="43" name="TextBox 42">
              <a:extLst>
                <a:ext uri="{FF2B5EF4-FFF2-40B4-BE49-F238E27FC236}">
                  <a16:creationId xmlns:a16="http://schemas.microsoft.com/office/drawing/2014/main" id="{63D6B473-6FD4-0FD7-A3A6-2C6EABF8A79E}"/>
                </a:ext>
              </a:extLst>
            </p:cNvPr>
            <p:cNvSpPr txBox="1"/>
            <p:nvPr/>
          </p:nvSpPr>
          <p:spPr>
            <a:xfrm>
              <a:off x="2361973" y="5238188"/>
              <a:ext cx="1184155" cy="261610"/>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1100" dirty="0">
                  <a:solidFill>
                    <a:srgbClr val="1589CB"/>
                  </a:solidFill>
                </a:rPr>
                <a:t>Analytics</a:t>
              </a:r>
            </a:p>
          </p:txBody>
        </p:sp>
        <p:sp>
          <p:nvSpPr>
            <p:cNvPr id="44" name="TextBox 43">
              <a:extLst>
                <a:ext uri="{FF2B5EF4-FFF2-40B4-BE49-F238E27FC236}">
                  <a16:creationId xmlns:a16="http://schemas.microsoft.com/office/drawing/2014/main" id="{4F33B2A1-F3DC-97AF-F480-7C24AE96B0D2}"/>
                </a:ext>
              </a:extLst>
            </p:cNvPr>
            <p:cNvSpPr txBox="1"/>
            <p:nvPr/>
          </p:nvSpPr>
          <p:spPr>
            <a:xfrm>
              <a:off x="4062570" y="4812231"/>
              <a:ext cx="1115610" cy="369332"/>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dirty="0">
                  <a:solidFill>
                    <a:srgbClr val="CA7C42"/>
                  </a:solidFill>
                </a:rPr>
                <a:t>Reports</a:t>
              </a:r>
            </a:p>
          </p:txBody>
        </p:sp>
        <p:sp>
          <p:nvSpPr>
            <p:cNvPr id="45" name="TextBox 44">
              <a:extLst>
                <a:ext uri="{FF2B5EF4-FFF2-40B4-BE49-F238E27FC236}">
                  <a16:creationId xmlns:a16="http://schemas.microsoft.com/office/drawing/2014/main" id="{F7EA1694-6D3A-2EA5-CA9E-60E5D9333CB6}"/>
                </a:ext>
              </a:extLst>
            </p:cNvPr>
            <p:cNvSpPr txBox="1"/>
            <p:nvPr/>
          </p:nvSpPr>
          <p:spPr>
            <a:xfrm>
              <a:off x="2842833" y="5981430"/>
              <a:ext cx="2639443" cy="707886"/>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4000" dirty="0">
                  <a:solidFill>
                    <a:srgbClr val="1589CB"/>
                  </a:solidFill>
                </a:rPr>
                <a:t>Historian</a:t>
              </a:r>
            </a:p>
          </p:txBody>
        </p:sp>
        <p:sp>
          <p:nvSpPr>
            <p:cNvPr id="46" name="TextBox 45">
              <a:extLst>
                <a:ext uri="{FF2B5EF4-FFF2-40B4-BE49-F238E27FC236}">
                  <a16:creationId xmlns:a16="http://schemas.microsoft.com/office/drawing/2014/main" id="{6BB19F9D-A067-0803-239B-09EE8E13D70E}"/>
                </a:ext>
              </a:extLst>
            </p:cNvPr>
            <p:cNvSpPr txBox="1"/>
            <p:nvPr/>
          </p:nvSpPr>
          <p:spPr>
            <a:xfrm>
              <a:off x="2585663" y="5750598"/>
              <a:ext cx="2010707" cy="461665"/>
            </a:xfrm>
            <a:prstGeom prst="rect">
              <a:avLst/>
            </a:prstGeom>
            <a:noFill/>
            <a:ln>
              <a:noFill/>
            </a:ln>
            <a:effectLst>
              <a:outerShdw blurRad="149987" dist="250190" dir="8460000" algn="ctr">
                <a:srgbClr val="000000">
                  <a:alpha val="28000"/>
                </a:srgbClr>
              </a:outerShdw>
            </a:effectLst>
            <a:sp3d prstMaterial="metal">
              <a:bevelT w="88900" h="88900"/>
            </a:sp3d>
          </p:spPr>
          <p:txBody>
            <a:bodyPr wrap="square">
              <a:spAutoFit/>
            </a:bodyPr>
            <a:lstStyle/>
            <a:p>
              <a:pPr algn="ctr"/>
              <a:r>
                <a:rPr lang="en-US" sz="2400" dirty="0">
                  <a:solidFill>
                    <a:srgbClr val="CA7C42"/>
                  </a:solidFill>
                </a:rPr>
                <a:t>Trending</a:t>
              </a:r>
              <a:r>
                <a:rPr lang="en-US" sz="2400" dirty="0">
                  <a:solidFill>
                    <a:srgbClr val="1589CB"/>
                  </a:solidFill>
                </a:rPr>
                <a:t> Chart</a:t>
              </a:r>
            </a:p>
          </p:txBody>
        </p:sp>
      </p:grpSp>
    </p:spTree>
    <p:extLst>
      <p:ext uri="{BB962C8B-B14F-4D97-AF65-F5344CB8AC3E}">
        <p14:creationId xmlns:p14="http://schemas.microsoft.com/office/powerpoint/2010/main" val="60119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E00931C7-CC27-B0AB-177C-E2515E7A3DA7}"/>
              </a:ext>
            </a:extLst>
          </p:cNvPr>
          <p:cNvPicPr>
            <a:picLocks noChangeAspect="1"/>
          </p:cNvPicPr>
          <p:nvPr/>
        </p:nvPicPr>
        <p:blipFill>
          <a:blip r:embed="rId2"/>
          <a:stretch>
            <a:fillRect/>
          </a:stretch>
        </p:blipFill>
        <p:spPr>
          <a:xfrm>
            <a:off x="7369699" y="-250399"/>
            <a:ext cx="1978420" cy="6858000"/>
          </a:xfrm>
          <a:prstGeom prst="rect">
            <a:avLst/>
          </a:prstGeom>
        </p:spPr>
      </p:pic>
      <p:sp>
        <p:nvSpPr>
          <p:cNvPr id="6" name="Rectangle 5">
            <a:extLst>
              <a:ext uri="{FF2B5EF4-FFF2-40B4-BE49-F238E27FC236}">
                <a16:creationId xmlns:a16="http://schemas.microsoft.com/office/drawing/2014/main" id="{299B025F-0E01-EFA0-10E2-A79B680C6939}"/>
              </a:ext>
            </a:extLst>
          </p:cNvPr>
          <p:cNvSpPr/>
          <p:nvPr/>
        </p:nvSpPr>
        <p:spPr>
          <a:xfrm>
            <a:off x="0" y="0"/>
            <a:ext cx="2170545" cy="6858000"/>
          </a:xfrm>
          <a:prstGeom prst="rect">
            <a:avLst/>
          </a:prstGeom>
          <a:solidFill>
            <a:srgbClr val="2A30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4169F397-F862-1C4C-7208-4112A22407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598" y="136631"/>
            <a:ext cx="1306947" cy="424757"/>
          </a:xfrm>
          <a:prstGeom prst="rect">
            <a:avLst/>
          </a:prstGeom>
        </p:spPr>
      </p:pic>
      <p:sp>
        <p:nvSpPr>
          <p:cNvPr id="11" name="TextBox 10">
            <a:extLst>
              <a:ext uri="{FF2B5EF4-FFF2-40B4-BE49-F238E27FC236}">
                <a16:creationId xmlns:a16="http://schemas.microsoft.com/office/drawing/2014/main" id="{B33F79FA-6EE3-3DD3-BE36-205DA0551F83}"/>
              </a:ext>
            </a:extLst>
          </p:cNvPr>
          <p:cNvSpPr txBox="1"/>
          <p:nvPr/>
        </p:nvSpPr>
        <p:spPr>
          <a:xfrm>
            <a:off x="572655" y="794328"/>
            <a:ext cx="1346138" cy="276999"/>
          </a:xfrm>
          <a:prstGeom prst="rect">
            <a:avLst/>
          </a:prstGeom>
          <a:noFill/>
        </p:spPr>
        <p:txBody>
          <a:bodyPr wrap="none" rtlCol="0">
            <a:spAutoFit/>
          </a:bodyPr>
          <a:lstStyle/>
          <a:p>
            <a:r>
              <a:rPr lang="en-US" sz="1200" dirty="0">
                <a:solidFill>
                  <a:schemeClr val="bg1"/>
                </a:solidFill>
              </a:rPr>
              <a:t>Template Designer</a:t>
            </a:r>
          </a:p>
        </p:txBody>
      </p:sp>
      <p:sp>
        <p:nvSpPr>
          <p:cNvPr id="12" name="TextBox 11">
            <a:extLst>
              <a:ext uri="{FF2B5EF4-FFF2-40B4-BE49-F238E27FC236}">
                <a16:creationId xmlns:a16="http://schemas.microsoft.com/office/drawing/2014/main" id="{5B31F35F-EBAE-336E-FD3A-035E94C61F6E}"/>
              </a:ext>
            </a:extLst>
          </p:cNvPr>
          <p:cNvSpPr txBox="1"/>
          <p:nvPr/>
        </p:nvSpPr>
        <p:spPr>
          <a:xfrm>
            <a:off x="572655" y="1164892"/>
            <a:ext cx="992579" cy="276999"/>
          </a:xfrm>
          <a:prstGeom prst="rect">
            <a:avLst/>
          </a:prstGeom>
          <a:noFill/>
        </p:spPr>
        <p:txBody>
          <a:bodyPr wrap="none" rtlCol="0">
            <a:spAutoFit/>
          </a:bodyPr>
          <a:lstStyle/>
          <a:p>
            <a:r>
              <a:rPr lang="en-US" sz="1200" dirty="0">
                <a:solidFill>
                  <a:schemeClr val="bg1"/>
                </a:solidFill>
              </a:rPr>
              <a:t>Tile Designer</a:t>
            </a:r>
          </a:p>
        </p:txBody>
      </p:sp>
      <p:sp>
        <p:nvSpPr>
          <p:cNvPr id="13" name="TextBox 12">
            <a:extLst>
              <a:ext uri="{FF2B5EF4-FFF2-40B4-BE49-F238E27FC236}">
                <a16:creationId xmlns:a16="http://schemas.microsoft.com/office/drawing/2014/main" id="{DFF6A3DF-7572-C76E-0851-0B79B3D2F1AC}"/>
              </a:ext>
            </a:extLst>
          </p:cNvPr>
          <p:cNvSpPr txBox="1"/>
          <p:nvPr/>
        </p:nvSpPr>
        <p:spPr>
          <a:xfrm>
            <a:off x="572655" y="1602509"/>
            <a:ext cx="1431289" cy="276999"/>
          </a:xfrm>
          <a:prstGeom prst="rect">
            <a:avLst/>
          </a:prstGeom>
          <a:noFill/>
        </p:spPr>
        <p:txBody>
          <a:bodyPr wrap="none" rtlCol="0">
            <a:spAutoFit/>
          </a:bodyPr>
          <a:lstStyle/>
          <a:p>
            <a:r>
              <a:rPr lang="en-US" sz="1200" dirty="0">
                <a:solidFill>
                  <a:schemeClr val="bg1"/>
                </a:solidFill>
              </a:rPr>
              <a:t>dashboard Designer</a:t>
            </a:r>
          </a:p>
        </p:txBody>
      </p:sp>
      <p:sp>
        <p:nvSpPr>
          <p:cNvPr id="14" name="TextBox 13">
            <a:extLst>
              <a:ext uri="{FF2B5EF4-FFF2-40B4-BE49-F238E27FC236}">
                <a16:creationId xmlns:a16="http://schemas.microsoft.com/office/drawing/2014/main" id="{FA323A6A-839F-B720-E7CE-6532DE2CB5D8}"/>
              </a:ext>
            </a:extLst>
          </p:cNvPr>
          <p:cNvSpPr txBox="1"/>
          <p:nvPr/>
        </p:nvSpPr>
        <p:spPr>
          <a:xfrm>
            <a:off x="572655" y="1973073"/>
            <a:ext cx="1193468" cy="276999"/>
          </a:xfrm>
          <a:prstGeom prst="rect">
            <a:avLst/>
          </a:prstGeom>
          <a:noFill/>
        </p:spPr>
        <p:txBody>
          <a:bodyPr wrap="none" rtlCol="0">
            <a:spAutoFit/>
          </a:bodyPr>
          <a:lstStyle/>
          <a:p>
            <a:r>
              <a:rPr lang="en-US" sz="1200" dirty="0">
                <a:solidFill>
                  <a:schemeClr val="bg1"/>
                </a:solidFill>
              </a:rPr>
              <a:t>Report Designer</a:t>
            </a:r>
          </a:p>
        </p:txBody>
      </p:sp>
      <p:sp>
        <p:nvSpPr>
          <p:cNvPr id="15" name="TextBox 14">
            <a:extLst>
              <a:ext uri="{FF2B5EF4-FFF2-40B4-BE49-F238E27FC236}">
                <a16:creationId xmlns:a16="http://schemas.microsoft.com/office/drawing/2014/main" id="{A9A472B4-7C0C-0041-02CA-1CE5310F463B}"/>
              </a:ext>
            </a:extLst>
          </p:cNvPr>
          <p:cNvSpPr txBox="1"/>
          <p:nvPr/>
        </p:nvSpPr>
        <p:spPr>
          <a:xfrm>
            <a:off x="572655" y="2370420"/>
            <a:ext cx="1088952" cy="276999"/>
          </a:xfrm>
          <a:prstGeom prst="rect">
            <a:avLst/>
          </a:prstGeom>
          <a:noFill/>
        </p:spPr>
        <p:txBody>
          <a:bodyPr wrap="none" rtlCol="0">
            <a:spAutoFit/>
          </a:bodyPr>
          <a:lstStyle/>
          <a:p>
            <a:r>
              <a:rPr lang="en-US" sz="1200" dirty="0">
                <a:solidFill>
                  <a:schemeClr val="bg1"/>
                </a:solidFill>
              </a:rPr>
              <a:t>Plant Designer</a:t>
            </a:r>
          </a:p>
        </p:txBody>
      </p:sp>
      <p:sp>
        <p:nvSpPr>
          <p:cNvPr id="16" name="TextBox 15">
            <a:extLst>
              <a:ext uri="{FF2B5EF4-FFF2-40B4-BE49-F238E27FC236}">
                <a16:creationId xmlns:a16="http://schemas.microsoft.com/office/drawing/2014/main" id="{0C406213-A269-1634-5968-6CAC8B5629DB}"/>
              </a:ext>
            </a:extLst>
          </p:cNvPr>
          <p:cNvSpPr txBox="1"/>
          <p:nvPr/>
        </p:nvSpPr>
        <p:spPr>
          <a:xfrm>
            <a:off x="572655" y="2740984"/>
            <a:ext cx="1395831" cy="276999"/>
          </a:xfrm>
          <a:prstGeom prst="rect">
            <a:avLst/>
          </a:prstGeom>
          <a:noFill/>
        </p:spPr>
        <p:txBody>
          <a:bodyPr wrap="none" rtlCol="0">
            <a:spAutoFit/>
          </a:bodyPr>
          <a:lstStyle/>
          <a:p>
            <a:r>
              <a:rPr lang="en-US" sz="1200" dirty="0">
                <a:solidFill>
                  <a:schemeClr val="bg1"/>
                </a:solidFill>
              </a:rPr>
              <a:t>Controller Designer</a:t>
            </a:r>
          </a:p>
        </p:txBody>
      </p:sp>
      <p:sp>
        <p:nvSpPr>
          <p:cNvPr id="17" name="TextBox 16">
            <a:extLst>
              <a:ext uri="{FF2B5EF4-FFF2-40B4-BE49-F238E27FC236}">
                <a16:creationId xmlns:a16="http://schemas.microsoft.com/office/drawing/2014/main" id="{2FD2A0F0-E5D0-8271-AC97-57568CDF3B6D}"/>
              </a:ext>
            </a:extLst>
          </p:cNvPr>
          <p:cNvSpPr txBox="1"/>
          <p:nvPr/>
        </p:nvSpPr>
        <p:spPr>
          <a:xfrm>
            <a:off x="572655" y="3178601"/>
            <a:ext cx="1040670" cy="276999"/>
          </a:xfrm>
          <a:prstGeom prst="rect">
            <a:avLst/>
          </a:prstGeom>
          <a:noFill/>
        </p:spPr>
        <p:txBody>
          <a:bodyPr wrap="none" rtlCol="0">
            <a:spAutoFit/>
          </a:bodyPr>
          <a:lstStyle/>
          <a:p>
            <a:r>
              <a:rPr lang="en-US" sz="1200" dirty="0">
                <a:solidFill>
                  <a:schemeClr val="bg1"/>
                </a:solidFill>
              </a:rPr>
              <a:t>Filer Designer</a:t>
            </a:r>
          </a:p>
        </p:txBody>
      </p:sp>
      <p:sp>
        <p:nvSpPr>
          <p:cNvPr id="18" name="TextBox 17">
            <a:extLst>
              <a:ext uri="{FF2B5EF4-FFF2-40B4-BE49-F238E27FC236}">
                <a16:creationId xmlns:a16="http://schemas.microsoft.com/office/drawing/2014/main" id="{34E0CA31-EA28-4D31-E3FC-A2D39561703C}"/>
              </a:ext>
            </a:extLst>
          </p:cNvPr>
          <p:cNvSpPr txBox="1"/>
          <p:nvPr/>
        </p:nvSpPr>
        <p:spPr>
          <a:xfrm>
            <a:off x="572655" y="3549165"/>
            <a:ext cx="1427186" cy="276999"/>
          </a:xfrm>
          <a:prstGeom prst="rect">
            <a:avLst/>
          </a:prstGeom>
          <a:noFill/>
        </p:spPr>
        <p:txBody>
          <a:bodyPr wrap="none" rtlCol="0">
            <a:spAutoFit/>
          </a:bodyPr>
          <a:lstStyle/>
          <a:p>
            <a:r>
              <a:rPr lang="en-US" sz="1200" dirty="0">
                <a:solidFill>
                  <a:schemeClr val="bg1"/>
                </a:solidFill>
              </a:rPr>
              <a:t>Dialog Box Designer</a:t>
            </a:r>
          </a:p>
        </p:txBody>
      </p:sp>
      <p:sp>
        <p:nvSpPr>
          <p:cNvPr id="23" name="TextBox 22">
            <a:extLst>
              <a:ext uri="{FF2B5EF4-FFF2-40B4-BE49-F238E27FC236}">
                <a16:creationId xmlns:a16="http://schemas.microsoft.com/office/drawing/2014/main" id="{55D06712-8A23-04EE-AE46-AD3DB2B7C41C}"/>
              </a:ext>
            </a:extLst>
          </p:cNvPr>
          <p:cNvSpPr txBox="1"/>
          <p:nvPr/>
        </p:nvSpPr>
        <p:spPr>
          <a:xfrm>
            <a:off x="591770" y="3986782"/>
            <a:ext cx="620683" cy="276999"/>
          </a:xfrm>
          <a:prstGeom prst="rect">
            <a:avLst/>
          </a:prstGeom>
          <a:noFill/>
        </p:spPr>
        <p:txBody>
          <a:bodyPr wrap="none" rtlCol="0">
            <a:spAutoFit/>
          </a:bodyPr>
          <a:lstStyle/>
          <a:p>
            <a:r>
              <a:rPr lang="en-US" sz="1200" dirty="0">
                <a:solidFill>
                  <a:schemeClr val="bg1"/>
                </a:solidFill>
              </a:rPr>
              <a:t>Alarms</a:t>
            </a:r>
          </a:p>
        </p:txBody>
      </p:sp>
      <p:sp>
        <p:nvSpPr>
          <p:cNvPr id="24" name="Rectangle 23">
            <a:extLst>
              <a:ext uri="{FF2B5EF4-FFF2-40B4-BE49-F238E27FC236}">
                <a16:creationId xmlns:a16="http://schemas.microsoft.com/office/drawing/2014/main" id="{ADC4E018-B2BA-B220-87E0-EBE5C87BE807}"/>
              </a:ext>
            </a:extLst>
          </p:cNvPr>
          <p:cNvSpPr/>
          <p:nvPr/>
        </p:nvSpPr>
        <p:spPr>
          <a:xfrm>
            <a:off x="43522" y="734684"/>
            <a:ext cx="2127023" cy="389084"/>
          </a:xfrm>
          <a:prstGeom prst="rect">
            <a:avLst/>
          </a:prstGeom>
          <a:solidFill>
            <a:srgbClr val="D0CECE">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A237015E-4543-9A85-7762-476B9ACABB5A}"/>
              </a:ext>
            </a:extLst>
          </p:cNvPr>
          <p:cNvSpPr/>
          <p:nvPr/>
        </p:nvSpPr>
        <p:spPr>
          <a:xfrm>
            <a:off x="0" y="729777"/>
            <a:ext cx="44286" cy="388800"/>
          </a:xfrm>
          <a:prstGeom prst="rect">
            <a:avLst/>
          </a:prstGeom>
          <a:solidFill>
            <a:srgbClr val="CA7C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A43D2FEC-A104-9E41-4436-4E85DF37E580}"/>
              </a:ext>
            </a:extLst>
          </p:cNvPr>
          <p:cNvGrpSpPr/>
          <p:nvPr/>
        </p:nvGrpSpPr>
        <p:grpSpPr>
          <a:xfrm>
            <a:off x="1853985" y="317870"/>
            <a:ext cx="229001" cy="91440"/>
            <a:chOff x="3732076" y="1602509"/>
            <a:chExt cx="229001" cy="91440"/>
          </a:xfrm>
        </p:grpSpPr>
        <p:cxnSp>
          <p:nvCxnSpPr>
            <p:cNvPr id="29" name="Straight Connector 28">
              <a:extLst>
                <a:ext uri="{FF2B5EF4-FFF2-40B4-BE49-F238E27FC236}">
                  <a16:creationId xmlns:a16="http://schemas.microsoft.com/office/drawing/2014/main" id="{6D5512AA-69AC-9B2B-5C55-0CB8A03CCB7D}"/>
                </a:ext>
              </a:extLst>
            </p:cNvPr>
            <p:cNvCxnSpPr>
              <a:cxnSpLocks/>
            </p:cNvCxnSpPr>
            <p:nvPr/>
          </p:nvCxnSpPr>
          <p:spPr>
            <a:xfrm>
              <a:off x="3732076" y="1602509"/>
              <a:ext cx="229001"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0" name="Straight Connector 29">
              <a:extLst>
                <a:ext uri="{FF2B5EF4-FFF2-40B4-BE49-F238E27FC236}">
                  <a16:creationId xmlns:a16="http://schemas.microsoft.com/office/drawing/2014/main" id="{968EB97A-97B4-7910-5C20-0BBF600AD656}"/>
                </a:ext>
              </a:extLst>
            </p:cNvPr>
            <p:cNvCxnSpPr>
              <a:cxnSpLocks/>
            </p:cNvCxnSpPr>
            <p:nvPr/>
          </p:nvCxnSpPr>
          <p:spPr>
            <a:xfrm>
              <a:off x="3732076" y="1648229"/>
              <a:ext cx="229001"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1" name="Straight Connector 30">
              <a:extLst>
                <a:ext uri="{FF2B5EF4-FFF2-40B4-BE49-F238E27FC236}">
                  <a16:creationId xmlns:a16="http://schemas.microsoft.com/office/drawing/2014/main" id="{922AC81D-6538-55C4-4E38-C2E93C2AB512}"/>
                </a:ext>
              </a:extLst>
            </p:cNvPr>
            <p:cNvCxnSpPr>
              <a:cxnSpLocks/>
            </p:cNvCxnSpPr>
            <p:nvPr/>
          </p:nvCxnSpPr>
          <p:spPr>
            <a:xfrm>
              <a:off x="3732076" y="1693949"/>
              <a:ext cx="229001"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2295807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542020-1FE0-4EAC-668C-8BB11904149D}"/>
              </a:ext>
            </a:extLst>
          </p:cNvPr>
          <p:cNvPicPr>
            <a:picLocks noChangeAspect="1"/>
          </p:cNvPicPr>
          <p:nvPr/>
        </p:nvPicPr>
        <p:blipFill>
          <a:blip r:embed="rId3"/>
          <a:stretch>
            <a:fillRect/>
          </a:stretch>
        </p:blipFill>
        <p:spPr>
          <a:xfrm>
            <a:off x="0" y="0"/>
            <a:ext cx="13235868" cy="6858000"/>
          </a:xfrm>
          <a:prstGeom prst="rect">
            <a:avLst/>
          </a:prstGeom>
        </p:spPr>
      </p:pic>
      <p:grpSp>
        <p:nvGrpSpPr>
          <p:cNvPr id="19" name="Group 18">
            <a:extLst>
              <a:ext uri="{FF2B5EF4-FFF2-40B4-BE49-F238E27FC236}">
                <a16:creationId xmlns:a16="http://schemas.microsoft.com/office/drawing/2014/main" id="{33602C0D-8467-D82F-8D20-4D477FEEF32D}"/>
              </a:ext>
            </a:extLst>
          </p:cNvPr>
          <p:cNvGrpSpPr/>
          <p:nvPr/>
        </p:nvGrpSpPr>
        <p:grpSpPr>
          <a:xfrm>
            <a:off x="-365760" y="0"/>
            <a:ext cx="2170545" cy="6858000"/>
            <a:chOff x="0" y="0"/>
            <a:chExt cx="2170545" cy="6858000"/>
          </a:xfrm>
        </p:grpSpPr>
        <p:sp>
          <p:nvSpPr>
            <p:cNvPr id="20" name="Rectangle 19">
              <a:extLst>
                <a:ext uri="{FF2B5EF4-FFF2-40B4-BE49-F238E27FC236}">
                  <a16:creationId xmlns:a16="http://schemas.microsoft.com/office/drawing/2014/main" id="{223658A7-843E-B01E-C717-3607F0ACF92F}"/>
                </a:ext>
              </a:extLst>
            </p:cNvPr>
            <p:cNvSpPr/>
            <p:nvPr/>
          </p:nvSpPr>
          <p:spPr>
            <a:xfrm>
              <a:off x="0" y="0"/>
              <a:ext cx="2170545" cy="6858000"/>
            </a:xfrm>
            <a:prstGeom prst="rect">
              <a:avLst/>
            </a:prstGeom>
            <a:solidFill>
              <a:srgbClr val="2A30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0">
              <a:extLst>
                <a:ext uri="{FF2B5EF4-FFF2-40B4-BE49-F238E27FC236}">
                  <a16:creationId xmlns:a16="http://schemas.microsoft.com/office/drawing/2014/main" id="{E2F8A88D-3E31-7546-D812-D0B5A87FCC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9598" y="136631"/>
              <a:ext cx="1306947" cy="424757"/>
            </a:xfrm>
            <a:prstGeom prst="rect">
              <a:avLst/>
            </a:prstGeom>
          </p:spPr>
        </p:pic>
        <p:sp>
          <p:nvSpPr>
            <p:cNvPr id="22" name="TextBox 21">
              <a:extLst>
                <a:ext uri="{FF2B5EF4-FFF2-40B4-BE49-F238E27FC236}">
                  <a16:creationId xmlns:a16="http://schemas.microsoft.com/office/drawing/2014/main" id="{B8342C84-F1A9-AFB5-9A11-7BF72391880D}"/>
                </a:ext>
              </a:extLst>
            </p:cNvPr>
            <p:cNvSpPr txBox="1"/>
            <p:nvPr/>
          </p:nvSpPr>
          <p:spPr>
            <a:xfrm>
              <a:off x="572655" y="794328"/>
              <a:ext cx="1346138" cy="276999"/>
            </a:xfrm>
            <a:prstGeom prst="rect">
              <a:avLst/>
            </a:prstGeom>
            <a:noFill/>
          </p:spPr>
          <p:txBody>
            <a:bodyPr wrap="none" rtlCol="0">
              <a:spAutoFit/>
            </a:bodyPr>
            <a:lstStyle/>
            <a:p>
              <a:r>
                <a:rPr lang="en-US" sz="1200" dirty="0">
                  <a:solidFill>
                    <a:schemeClr val="bg1"/>
                  </a:solidFill>
                </a:rPr>
                <a:t>Template Designer</a:t>
              </a:r>
            </a:p>
          </p:txBody>
        </p:sp>
        <p:sp>
          <p:nvSpPr>
            <p:cNvPr id="23" name="TextBox 22">
              <a:extLst>
                <a:ext uri="{FF2B5EF4-FFF2-40B4-BE49-F238E27FC236}">
                  <a16:creationId xmlns:a16="http://schemas.microsoft.com/office/drawing/2014/main" id="{0EF8AE40-FA2C-8A59-05A8-558CCDDDADA9}"/>
                </a:ext>
              </a:extLst>
            </p:cNvPr>
            <p:cNvSpPr txBox="1"/>
            <p:nvPr/>
          </p:nvSpPr>
          <p:spPr>
            <a:xfrm>
              <a:off x="572655" y="1164892"/>
              <a:ext cx="992579" cy="276999"/>
            </a:xfrm>
            <a:prstGeom prst="rect">
              <a:avLst/>
            </a:prstGeom>
            <a:noFill/>
          </p:spPr>
          <p:txBody>
            <a:bodyPr wrap="none" rtlCol="0">
              <a:spAutoFit/>
            </a:bodyPr>
            <a:lstStyle/>
            <a:p>
              <a:r>
                <a:rPr lang="en-US" sz="1200" dirty="0">
                  <a:solidFill>
                    <a:schemeClr val="bg1"/>
                  </a:solidFill>
                </a:rPr>
                <a:t>Tile Designer</a:t>
              </a:r>
            </a:p>
          </p:txBody>
        </p:sp>
        <p:sp>
          <p:nvSpPr>
            <p:cNvPr id="24" name="TextBox 23">
              <a:extLst>
                <a:ext uri="{FF2B5EF4-FFF2-40B4-BE49-F238E27FC236}">
                  <a16:creationId xmlns:a16="http://schemas.microsoft.com/office/drawing/2014/main" id="{69D7DD72-8FE1-97AF-2843-6BAFDAE5B295}"/>
                </a:ext>
              </a:extLst>
            </p:cNvPr>
            <p:cNvSpPr txBox="1"/>
            <p:nvPr/>
          </p:nvSpPr>
          <p:spPr>
            <a:xfrm>
              <a:off x="572655" y="1602509"/>
              <a:ext cx="1431289" cy="276999"/>
            </a:xfrm>
            <a:prstGeom prst="rect">
              <a:avLst/>
            </a:prstGeom>
            <a:noFill/>
          </p:spPr>
          <p:txBody>
            <a:bodyPr wrap="none" rtlCol="0">
              <a:spAutoFit/>
            </a:bodyPr>
            <a:lstStyle/>
            <a:p>
              <a:r>
                <a:rPr lang="en-US" sz="1200" dirty="0">
                  <a:solidFill>
                    <a:schemeClr val="bg1"/>
                  </a:solidFill>
                </a:rPr>
                <a:t>dashboard Designer</a:t>
              </a:r>
            </a:p>
          </p:txBody>
        </p:sp>
        <p:sp>
          <p:nvSpPr>
            <p:cNvPr id="25" name="TextBox 24">
              <a:extLst>
                <a:ext uri="{FF2B5EF4-FFF2-40B4-BE49-F238E27FC236}">
                  <a16:creationId xmlns:a16="http://schemas.microsoft.com/office/drawing/2014/main" id="{195C8C8D-1FAC-AE40-97A1-C969CA98FC2E}"/>
                </a:ext>
              </a:extLst>
            </p:cNvPr>
            <p:cNvSpPr txBox="1"/>
            <p:nvPr/>
          </p:nvSpPr>
          <p:spPr>
            <a:xfrm>
              <a:off x="572655" y="1973073"/>
              <a:ext cx="1193468" cy="276999"/>
            </a:xfrm>
            <a:prstGeom prst="rect">
              <a:avLst/>
            </a:prstGeom>
            <a:noFill/>
          </p:spPr>
          <p:txBody>
            <a:bodyPr wrap="none" rtlCol="0">
              <a:spAutoFit/>
            </a:bodyPr>
            <a:lstStyle/>
            <a:p>
              <a:r>
                <a:rPr lang="en-US" sz="1200" dirty="0">
                  <a:solidFill>
                    <a:schemeClr val="bg1"/>
                  </a:solidFill>
                </a:rPr>
                <a:t>Report Designer</a:t>
              </a:r>
            </a:p>
          </p:txBody>
        </p:sp>
        <p:sp>
          <p:nvSpPr>
            <p:cNvPr id="26" name="TextBox 25">
              <a:extLst>
                <a:ext uri="{FF2B5EF4-FFF2-40B4-BE49-F238E27FC236}">
                  <a16:creationId xmlns:a16="http://schemas.microsoft.com/office/drawing/2014/main" id="{F26BDE6E-F2C0-A9E7-903C-F23B20F65C72}"/>
                </a:ext>
              </a:extLst>
            </p:cNvPr>
            <p:cNvSpPr txBox="1"/>
            <p:nvPr/>
          </p:nvSpPr>
          <p:spPr>
            <a:xfrm>
              <a:off x="572655" y="2370420"/>
              <a:ext cx="1088952" cy="276999"/>
            </a:xfrm>
            <a:prstGeom prst="rect">
              <a:avLst/>
            </a:prstGeom>
            <a:noFill/>
          </p:spPr>
          <p:txBody>
            <a:bodyPr wrap="none" rtlCol="0">
              <a:spAutoFit/>
            </a:bodyPr>
            <a:lstStyle/>
            <a:p>
              <a:r>
                <a:rPr lang="en-US" sz="1200" dirty="0">
                  <a:solidFill>
                    <a:schemeClr val="bg1"/>
                  </a:solidFill>
                </a:rPr>
                <a:t>Plant Designer</a:t>
              </a:r>
            </a:p>
          </p:txBody>
        </p:sp>
        <p:sp>
          <p:nvSpPr>
            <p:cNvPr id="27" name="TextBox 26">
              <a:extLst>
                <a:ext uri="{FF2B5EF4-FFF2-40B4-BE49-F238E27FC236}">
                  <a16:creationId xmlns:a16="http://schemas.microsoft.com/office/drawing/2014/main" id="{DBE06AE9-A0E2-ED18-8A72-76090A85DCCF}"/>
                </a:ext>
              </a:extLst>
            </p:cNvPr>
            <p:cNvSpPr txBox="1"/>
            <p:nvPr/>
          </p:nvSpPr>
          <p:spPr>
            <a:xfrm>
              <a:off x="572655" y="2740984"/>
              <a:ext cx="1395831" cy="276999"/>
            </a:xfrm>
            <a:prstGeom prst="rect">
              <a:avLst/>
            </a:prstGeom>
            <a:noFill/>
          </p:spPr>
          <p:txBody>
            <a:bodyPr wrap="none" rtlCol="0">
              <a:spAutoFit/>
            </a:bodyPr>
            <a:lstStyle/>
            <a:p>
              <a:r>
                <a:rPr lang="en-US" sz="1200" dirty="0">
                  <a:solidFill>
                    <a:schemeClr val="bg1"/>
                  </a:solidFill>
                </a:rPr>
                <a:t>Controller Designer</a:t>
              </a:r>
            </a:p>
          </p:txBody>
        </p:sp>
        <p:sp>
          <p:nvSpPr>
            <p:cNvPr id="28" name="TextBox 27">
              <a:extLst>
                <a:ext uri="{FF2B5EF4-FFF2-40B4-BE49-F238E27FC236}">
                  <a16:creationId xmlns:a16="http://schemas.microsoft.com/office/drawing/2014/main" id="{0A8F58DC-064F-2A53-80A3-32F80ABD5CD1}"/>
                </a:ext>
              </a:extLst>
            </p:cNvPr>
            <p:cNvSpPr txBox="1"/>
            <p:nvPr/>
          </p:nvSpPr>
          <p:spPr>
            <a:xfrm>
              <a:off x="572655" y="3178601"/>
              <a:ext cx="1040670" cy="276999"/>
            </a:xfrm>
            <a:prstGeom prst="rect">
              <a:avLst/>
            </a:prstGeom>
            <a:noFill/>
          </p:spPr>
          <p:txBody>
            <a:bodyPr wrap="none" rtlCol="0">
              <a:spAutoFit/>
            </a:bodyPr>
            <a:lstStyle/>
            <a:p>
              <a:r>
                <a:rPr lang="en-US" sz="1200" dirty="0">
                  <a:solidFill>
                    <a:schemeClr val="bg1"/>
                  </a:solidFill>
                </a:rPr>
                <a:t>Filer Designer</a:t>
              </a:r>
            </a:p>
          </p:txBody>
        </p:sp>
        <p:sp>
          <p:nvSpPr>
            <p:cNvPr id="29" name="TextBox 28">
              <a:extLst>
                <a:ext uri="{FF2B5EF4-FFF2-40B4-BE49-F238E27FC236}">
                  <a16:creationId xmlns:a16="http://schemas.microsoft.com/office/drawing/2014/main" id="{13AFC875-6E5B-D3DB-95AA-82CDD16184C3}"/>
                </a:ext>
              </a:extLst>
            </p:cNvPr>
            <p:cNvSpPr txBox="1"/>
            <p:nvPr/>
          </p:nvSpPr>
          <p:spPr>
            <a:xfrm>
              <a:off x="572655" y="3549165"/>
              <a:ext cx="1427186" cy="276999"/>
            </a:xfrm>
            <a:prstGeom prst="rect">
              <a:avLst/>
            </a:prstGeom>
            <a:noFill/>
          </p:spPr>
          <p:txBody>
            <a:bodyPr wrap="none" rtlCol="0">
              <a:spAutoFit/>
            </a:bodyPr>
            <a:lstStyle/>
            <a:p>
              <a:r>
                <a:rPr lang="en-US" sz="1200" dirty="0">
                  <a:solidFill>
                    <a:schemeClr val="bg1"/>
                  </a:solidFill>
                </a:rPr>
                <a:t>Dialog Box Designer</a:t>
              </a:r>
            </a:p>
          </p:txBody>
        </p:sp>
        <p:sp>
          <p:nvSpPr>
            <p:cNvPr id="30" name="TextBox 29">
              <a:extLst>
                <a:ext uri="{FF2B5EF4-FFF2-40B4-BE49-F238E27FC236}">
                  <a16:creationId xmlns:a16="http://schemas.microsoft.com/office/drawing/2014/main" id="{03D1DB3A-C410-8635-7CFA-70E944EF2BD5}"/>
                </a:ext>
              </a:extLst>
            </p:cNvPr>
            <p:cNvSpPr txBox="1"/>
            <p:nvPr/>
          </p:nvSpPr>
          <p:spPr>
            <a:xfrm>
              <a:off x="591770" y="3986782"/>
              <a:ext cx="620683" cy="276999"/>
            </a:xfrm>
            <a:prstGeom prst="rect">
              <a:avLst/>
            </a:prstGeom>
            <a:noFill/>
          </p:spPr>
          <p:txBody>
            <a:bodyPr wrap="none" rtlCol="0">
              <a:spAutoFit/>
            </a:bodyPr>
            <a:lstStyle/>
            <a:p>
              <a:r>
                <a:rPr lang="en-US" sz="1200" dirty="0">
                  <a:solidFill>
                    <a:schemeClr val="bg1"/>
                  </a:solidFill>
                </a:rPr>
                <a:t>Alarms</a:t>
              </a:r>
            </a:p>
          </p:txBody>
        </p:sp>
        <p:sp>
          <p:nvSpPr>
            <p:cNvPr id="31" name="Rectangle 30">
              <a:extLst>
                <a:ext uri="{FF2B5EF4-FFF2-40B4-BE49-F238E27FC236}">
                  <a16:creationId xmlns:a16="http://schemas.microsoft.com/office/drawing/2014/main" id="{1776E729-D7EF-A2A1-1DE8-2D889F80AA4A}"/>
                </a:ext>
              </a:extLst>
            </p:cNvPr>
            <p:cNvSpPr/>
            <p:nvPr/>
          </p:nvSpPr>
          <p:spPr>
            <a:xfrm>
              <a:off x="43522" y="734684"/>
              <a:ext cx="2127023" cy="389084"/>
            </a:xfrm>
            <a:prstGeom prst="rect">
              <a:avLst/>
            </a:prstGeom>
            <a:solidFill>
              <a:srgbClr val="D0CECE">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B6320E2D-D951-590D-7DB8-E2D1A9787353}"/>
                </a:ext>
              </a:extLst>
            </p:cNvPr>
            <p:cNvSpPr/>
            <p:nvPr/>
          </p:nvSpPr>
          <p:spPr>
            <a:xfrm>
              <a:off x="0" y="729777"/>
              <a:ext cx="44286" cy="388800"/>
            </a:xfrm>
            <a:prstGeom prst="rect">
              <a:avLst/>
            </a:prstGeom>
            <a:solidFill>
              <a:srgbClr val="CA7C4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BBCFFB5E-7F31-748D-3A5C-6CFE05D4D518}"/>
                </a:ext>
              </a:extLst>
            </p:cNvPr>
            <p:cNvGrpSpPr/>
            <p:nvPr/>
          </p:nvGrpSpPr>
          <p:grpSpPr>
            <a:xfrm>
              <a:off x="1853985" y="317870"/>
              <a:ext cx="229001" cy="91440"/>
              <a:chOff x="3732076" y="1602509"/>
              <a:chExt cx="229001" cy="91440"/>
            </a:xfrm>
          </p:grpSpPr>
          <p:cxnSp>
            <p:nvCxnSpPr>
              <p:cNvPr id="34" name="Straight Connector 33">
                <a:extLst>
                  <a:ext uri="{FF2B5EF4-FFF2-40B4-BE49-F238E27FC236}">
                    <a16:creationId xmlns:a16="http://schemas.microsoft.com/office/drawing/2014/main" id="{1F3020E7-4939-B862-9FA2-88346537186B}"/>
                  </a:ext>
                </a:extLst>
              </p:cNvPr>
              <p:cNvCxnSpPr>
                <a:cxnSpLocks/>
              </p:cNvCxnSpPr>
              <p:nvPr/>
            </p:nvCxnSpPr>
            <p:spPr>
              <a:xfrm>
                <a:off x="3732076" y="1602509"/>
                <a:ext cx="229001"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C18B8547-9EE6-2444-2A0C-C43EA9E05CEB}"/>
                  </a:ext>
                </a:extLst>
              </p:cNvPr>
              <p:cNvCxnSpPr>
                <a:cxnSpLocks/>
              </p:cNvCxnSpPr>
              <p:nvPr/>
            </p:nvCxnSpPr>
            <p:spPr>
              <a:xfrm>
                <a:off x="3732076" y="1648229"/>
                <a:ext cx="229001"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0E34716F-8634-06C1-2FB7-64B0592BC74D}"/>
                  </a:ext>
                </a:extLst>
              </p:cNvPr>
              <p:cNvCxnSpPr>
                <a:cxnSpLocks/>
              </p:cNvCxnSpPr>
              <p:nvPr/>
            </p:nvCxnSpPr>
            <p:spPr>
              <a:xfrm>
                <a:off x="3732076" y="1693949"/>
                <a:ext cx="229001"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grpSp>
      </p:grpSp>
      <p:sp>
        <p:nvSpPr>
          <p:cNvPr id="37" name="TextBox 36">
            <a:extLst>
              <a:ext uri="{FF2B5EF4-FFF2-40B4-BE49-F238E27FC236}">
                <a16:creationId xmlns:a16="http://schemas.microsoft.com/office/drawing/2014/main" id="{335FA63A-3318-6106-E716-3D0DD7BED90B}"/>
              </a:ext>
            </a:extLst>
          </p:cNvPr>
          <p:cNvSpPr txBox="1"/>
          <p:nvPr/>
        </p:nvSpPr>
        <p:spPr>
          <a:xfrm>
            <a:off x="3571887" y="125686"/>
            <a:ext cx="614271" cy="276999"/>
          </a:xfrm>
          <a:prstGeom prst="rect">
            <a:avLst/>
          </a:prstGeom>
          <a:noFill/>
        </p:spPr>
        <p:txBody>
          <a:bodyPr wrap="none" rtlCol="0">
            <a:spAutoFit/>
          </a:bodyPr>
          <a:lstStyle/>
          <a:p>
            <a:r>
              <a:rPr lang="en-US" sz="800" dirty="0">
                <a:solidFill>
                  <a:schemeClr val="tx1">
                    <a:lumMod val="75000"/>
                    <a:lumOff val="25000"/>
                  </a:schemeClr>
                </a:solidFill>
              </a:rPr>
              <a:t>[ V 1.0.0 ]</a:t>
            </a:r>
            <a:r>
              <a:rPr lang="en-US" sz="1200" dirty="0">
                <a:solidFill>
                  <a:schemeClr val="tx1">
                    <a:lumMod val="75000"/>
                    <a:lumOff val="25000"/>
                  </a:schemeClr>
                </a:solidFill>
              </a:rPr>
              <a:t> </a:t>
            </a:r>
          </a:p>
        </p:txBody>
      </p:sp>
    </p:spTree>
    <p:extLst>
      <p:ext uri="{BB962C8B-B14F-4D97-AF65-F5344CB8AC3E}">
        <p14:creationId xmlns:p14="http://schemas.microsoft.com/office/powerpoint/2010/main" val="2418855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0AF8D8-E58C-3C4C-01F2-0D997A2CF3FD}"/>
              </a:ext>
            </a:extLst>
          </p:cNvPr>
          <p:cNvPicPr>
            <a:picLocks noChangeAspect="1"/>
          </p:cNvPicPr>
          <p:nvPr/>
        </p:nvPicPr>
        <p:blipFill>
          <a:blip r:embed="rId2"/>
          <a:stretch>
            <a:fillRect/>
          </a:stretch>
        </p:blipFill>
        <p:spPr>
          <a:xfrm>
            <a:off x="0" y="270433"/>
            <a:ext cx="12192000" cy="6317133"/>
          </a:xfrm>
          <a:prstGeom prst="rect">
            <a:avLst/>
          </a:prstGeom>
        </p:spPr>
      </p:pic>
    </p:spTree>
    <p:extLst>
      <p:ext uri="{BB962C8B-B14F-4D97-AF65-F5344CB8AC3E}">
        <p14:creationId xmlns:p14="http://schemas.microsoft.com/office/powerpoint/2010/main" val="33575769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1976</TotalTime>
  <Words>436</Words>
  <Application>Microsoft Office PowerPoint</Application>
  <PresentationFormat>Widescreen</PresentationFormat>
  <Paragraphs>111</Paragraphs>
  <Slides>10</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Blanka</vt:lpstr>
      <vt:lpstr>Broadway</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brijesh chodavadiya</dc:creator>
  <cp:lastModifiedBy>aryan.adiinfi@gmail.com</cp:lastModifiedBy>
  <cp:revision>20</cp:revision>
  <dcterms:created xsi:type="dcterms:W3CDTF">2025-06-02T12:45:04Z</dcterms:created>
  <dcterms:modified xsi:type="dcterms:W3CDTF">2025-10-16T08:55:53Z</dcterms:modified>
</cp:coreProperties>
</file>